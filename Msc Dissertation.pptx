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0694" y="857532"/>
            <a:ext cx="6015355" cy="111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rgbClr val="44009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rgbClr val="44009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rgbClr val="44009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rgbClr val="44009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2955" y="857525"/>
            <a:ext cx="16402089" cy="111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rgbClr val="44009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9800" y="2766689"/>
            <a:ext cx="16240125" cy="6184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599917" y="9663397"/>
            <a:ext cx="407034" cy="26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" y="0"/>
            <a:ext cx="18288618" cy="10553700"/>
            <a:chOff x="198103" y="0"/>
            <a:chExt cx="18090515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03" y="0"/>
              <a:ext cx="18089896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557" y="462411"/>
              <a:ext cx="3171824" cy="9620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51468" y="8866754"/>
            <a:ext cx="2727960" cy="98361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5080">
              <a:lnSpc>
                <a:spcPct val="74700"/>
              </a:lnSpc>
              <a:spcBef>
                <a:spcPts val="1190"/>
              </a:spcBef>
            </a:pPr>
            <a:r>
              <a:rPr sz="3600" b="1" spc="75" dirty="0">
                <a:solidFill>
                  <a:srgbClr val="440099"/>
                </a:solidFill>
                <a:latin typeface="Cambria"/>
                <a:cs typeface="Cambria"/>
              </a:rPr>
              <a:t>Msc</a:t>
            </a:r>
            <a:r>
              <a:rPr sz="3600" b="1" spc="-15" dirty="0">
                <a:solidFill>
                  <a:srgbClr val="440099"/>
                </a:solidFill>
                <a:latin typeface="Cambria"/>
                <a:cs typeface="Cambria"/>
              </a:rPr>
              <a:t> </a:t>
            </a:r>
            <a:r>
              <a:rPr sz="3600" b="1" spc="-10" dirty="0">
                <a:solidFill>
                  <a:srgbClr val="440099"/>
                </a:solidFill>
                <a:latin typeface="Cambria"/>
                <a:cs typeface="Cambria"/>
              </a:rPr>
              <a:t>Project </a:t>
            </a:r>
            <a:r>
              <a:rPr sz="3600" b="1" spc="-25" dirty="0">
                <a:solidFill>
                  <a:srgbClr val="440099"/>
                </a:solidFill>
                <a:latin typeface="Cambria"/>
                <a:cs typeface="Cambria"/>
              </a:rPr>
              <a:t>Presentation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57475" y="2955599"/>
            <a:ext cx="12051665" cy="2315210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12700" marR="5080" indent="140970">
              <a:lnSpc>
                <a:spcPts val="8180"/>
              </a:lnSpc>
              <a:spcBef>
                <a:spcPts val="1764"/>
              </a:spcBef>
            </a:pPr>
            <a:r>
              <a:rPr sz="8200" b="0" spc="-535" dirty="0">
                <a:solidFill>
                  <a:srgbClr val="121D29"/>
                </a:solidFill>
                <a:latin typeface="Tahoma"/>
                <a:cs typeface="Tahoma"/>
              </a:rPr>
              <a:t>Detecting</a:t>
            </a:r>
            <a:r>
              <a:rPr sz="8200" b="0" spc="-955" dirty="0">
                <a:solidFill>
                  <a:srgbClr val="121D29"/>
                </a:solidFill>
                <a:latin typeface="Tahoma"/>
                <a:cs typeface="Tahoma"/>
              </a:rPr>
              <a:t> </a:t>
            </a:r>
            <a:r>
              <a:rPr sz="8200" b="0" spc="-575" dirty="0">
                <a:solidFill>
                  <a:srgbClr val="121D29"/>
                </a:solidFill>
                <a:latin typeface="Tahoma"/>
                <a:cs typeface="Tahoma"/>
              </a:rPr>
              <a:t>Machine</a:t>
            </a:r>
            <a:r>
              <a:rPr sz="8200" b="0" spc="-950" dirty="0">
                <a:solidFill>
                  <a:srgbClr val="121D29"/>
                </a:solidFill>
                <a:latin typeface="Tahoma"/>
                <a:cs typeface="Tahoma"/>
              </a:rPr>
              <a:t> </a:t>
            </a:r>
            <a:r>
              <a:rPr sz="8200" b="0" spc="-650" dirty="0">
                <a:solidFill>
                  <a:srgbClr val="121D29"/>
                </a:solidFill>
                <a:latin typeface="Tahoma"/>
                <a:cs typeface="Tahoma"/>
              </a:rPr>
              <a:t>Generated </a:t>
            </a:r>
            <a:r>
              <a:rPr sz="8200" b="0" spc="-480" dirty="0">
                <a:solidFill>
                  <a:srgbClr val="121D29"/>
                </a:solidFill>
                <a:latin typeface="Tahoma"/>
                <a:cs typeface="Tahoma"/>
              </a:rPr>
              <a:t>Misinformation</a:t>
            </a:r>
            <a:r>
              <a:rPr sz="8200" b="0" spc="-935" dirty="0">
                <a:solidFill>
                  <a:srgbClr val="121D29"/>
                </a:solidFill>
                <a:latin typeface="Tahoma"/>
                <a:cs typeface="Tahoma"/>
              </a:rPr>
              <a:t> </a:t>
            </a:r>
            <a:r>
              <a:rPr sz="8200" b="0" spc="-430" dirty="0">
                <a:solidFill>
                  <a:srgbClr val="121D29"/>
                </a:solidFill>
                <a:latin typeface="Tahoma"/>
                <a:cs typeface="Tahoma"/>
              </a:rPr>
              <a:t>in</a:t>
            </a:r>
            <a:r>
              <a:rPr sz="8200" b="0" spc="-935" dirty="0">
                <a:solidFill>
                  <a:srgbClr val="121D29"/>
                </a:solidFill>
                <a:latin typeface="Tahoma"/>
                <a:cs typeface="Tahoma"/>
              </a:rPr>
              <a:t> </a:t>
            </a:r>
            <a:r>
              <a:rPr sz="8200" b="0" spc="-400" dirty="0">
                <a:solidFill>
                  <a:srgbClr val="121D29"/>
                </a:solidFill>
                <a:latin typeface="Tahoma"/>
                <a:cs typeface="Tahoma"/>
              </a:rPr>
              <a:t>Social</a:t>
            </a:r>
            <a:r>
              <a:rPr sz="8200" b="0" spc="-930" dirty="0">
                <a:solidFill>
                  <a:srgbClr val="121D29"/>
                </a:solidFill>
                <a:latin typeface="Tahoma"/>
                <a:cs typeface="Tahoma"/>
              </a:rPr>
              <a:t> </a:t>
            </a:r>
            <a:r>
              <a:rPr sz="8200" b="0" spc="-540" dirty="0">
                <a:solidFill>
                  <a:srgbClr val="121D29"/>
                </a:solidFill>
                <a:latin typeface="Tahoma"/>
                <a:cs typeface="Tahoma"/>
              </a:rPr>
              <a:t>Media</a:t>
            </a:r>
            <a:endParaRPr sz="8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81576" y="244004"/>
            <a:ext cx="15297780" cy="5504238"/>
            <a:chOff x="2981576" y="244004"/>
            <a:chExt cx="15297780" cy="5504238"/>
          </a:xfrm>
        </p:grpSpPr>
        <p:sp>
          <p:nvSpPr>
            <p:cNvPr id="9" name="object 9"/>
            <p:cNvSpPr/>
            <p:nvPr/>
          </p:nvSpPr>
          <p:spPr>
            <a:xfrm>
              <a:off x="2981576" y="5748242"/>
              <a:ext cx="12211050" cy="0"/>
            </a:xfrm>
            <a:custGeom>
              <a:avLst/>
              <a:gdLst/>
              <a:ahLst/>
              <a:cxnLst/>
              <a:rect l="l" t="t" r="r" b="b"/>
              <a:pathLst>
                <a:path w="12211050">
                  <a:moveTo>
                    <a:pt x="0" y="0"/>
                  </a:moveTo>
                  <a:lnTo>
                    <a:pt x="12211049" y="0"/>
                  </a:lnTo>
                </a:path>
              </a:pathLst>
            </a:custGeom>
            <a:ln w="38099">
              <a:solidFill>
                <a:srgbClr val="44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12082" y="244004"/>
              <a:ext cx="4867274" cy="13906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963351" y="6243507"/>
            <a:ext cx="3349625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245">
                <a:latin typeface="Tahoma"/>
                <a:cs typeface="Tahoma"/>
              </a:rPr>
              <a:t>Manthan</a:t>
            </a:r>
            <a:r>
              <a:rPr sz="3000" spc="-310">
                <a:latin typeface="Tahoma"/>
                <a:cs typeface="Tahoma"/>
              </a:rPr>
              <a:t> </a:t>
            </a:r>
            <a:r>
              <a:rPr sz="3000" spc="-280">
                <a:latin typeface="Tahoma"/>
                <a:cs typeface="Tahoma"/>
              </a:rPr>
              <a:t>Gharat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78652" y="6237750"/>
            <a:ext cx="2818130" cy="8915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66675" marR="5080" indent="-54610">
              <a:lnSpc>
                <a:spcPts val="3229"/>
              </a:lnSpc>
              <a:spcBef>
                <a:spcPts val="509"/>
              </a:spcBef>
              <a:tabLst>
                <a:tab pos="696595" algn="l"/>
              </a:tabLst>
            </a:pPr>
            <a:r>
              <a:rPr sz="3000" spc="-290" dirty="0">
                <a:latin typeface="Tahoma"/>
                <a:cs typeface="Tahoma"/>
              </a:rPr>
              <a:t>Dr.</a:t>
            </a:r>
            <a:r>
              <a:rPr sz="3000" spc="-325" dirty="0">
                <a:latin typeface="Tahoma"/>
                <a:cs typeface="Tahoma"/>
              </a:rPr>
              <a:t> </a:t>
            </a:r>
            <a:r>
              <a:rPr sz="3000" spc="-225" dirty="0">
                <a:latin typeface="Tahoma"/>
                <a:cs typeface="Tahoma"/>
              </a:rPr>
              <a:t>Carolina</a:t>
            </a:r>
            <a:r>
              <a:rPr sz="3000" spc="-320" dirty="0">
                <a:latin typeface="Tahoma"/>
                <a:cs typeface="Tahoma"/>
              </a:rPr>
              <a:t> </a:t>
            </a:r>
            <a:r>
              <a:rPr sz="3000" spc="-200" dirty="0">
                <a:latin typeface="Tahoma"/>
                <a:cs typeface="Tahoma"/>
              </a:rPr>
              <a:t>Scarton </a:t>
            </a:r>
            <a:r>
              <a:rPr sz="3000" spc="-315" dirty="0">
                <a:latin typeface="Tahoma"/>
                <a:cs typeface="Tahoma"/>
              </a:rPr>
              <a:t>Dr.</a:t>
            </a:r>
            <a:r>
              <a:rPr sz="3000" dirty="0">
                <a:latin typeface="Tahoma"/>
                <a:cs typeface="Tahoma"/>
              </a:rPr>
              <a:t>	</a:t>
            </a:r>
            <a:r>
              <a:rPr sz="3000" spc="-254" dirty="0">
                <a:latin typeface="Tahoma"/>
                <a:cs typeface="Tahoma"/>
              </a:rPr>
              <a:t>Fatima</a:t>
            </a:r>
            <a:r>
              <a:rPr sz="3000" spc="-315" dirty="0">
                <a:latin typeface="Tahoma"/>
                <a:cs typeface="Tahoma"/>
              </a:rPr>
              <a:t> </a:t>
            </a:r>
            <a:r>
              <a:rPr sz="3000" spc="-250" dirty="0">
                <a:latin typeface="Tahoma"/>
                <a:cs typeface="Tahoma"/>
              </a:rPr>
              <a:t>Haouari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695316" y="9541757"/>
            <a:ext cx="216535" cy="459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50" spc="-50" dirty="0">
                <a:latin typeface="Arial MT"/>
                <a:cs typeface="Arial MT"/>
              </a:rPr>
              <a:t>1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74371" y="878937"/>
            <a:ext cx="173228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220" dirty="0">
                <a:latin typeface="Tahoma"/>
                <a:cs typeface="Tahoma"/>
              </a:rPr>
              <a:t>Background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0026" y="669313"/>
            <a:ext cx="3739515" cy="1111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/>
          <p:nvPr/>
        </p:nvSpPr>
        <p:spPr>
          <a:xfrm>
            <a:off x="9167204" y="951059"/>
            <a:ext cx="0" cy="5857875"/>
          </a:xfrm>
          <a:custGeom>
            <a:avLst/>
            <a:gdLst/>
            <a:ahLst/>
            <a:cxnLst/>
            <a:rect l="l" t="t" r="r" b="b"/>
            <a:pathLst>
              <a:path h="5857875">
                <a:moveTo>
                  <a:pt x="0" y="0"/>
                </a:moveTo>
                <a:lnTo>
                  <a:pt x="0" y="5857874"/>
                </a:lnTo>
              </a:path>
            </a:pathLst>
          </a:custGeom>
          <a:ln w="38099">
            <a:solidFill>
              <a:srgbClr val="939D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32519" y="905330"/>
            <a:ext cx="394335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spc="-135" dirty="0">
                <a:solidFill>
                  <a:srgbClr val="440099"/>
                </a:solidFill>
                <a:latin typeface="Arial MT"/>
                <a:cs typeface="Arial MT"/>
              </a:rPr>
              <a:t>01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4371" y="2002407"/>
            <a:ext cx="496506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175" dirty="0">
                <a:latin typeface="Tahoma"/>
                <a:cs typeface="Tahoma"/>
              </a:rPr>
              <a:t>Problem</a:t>
            </a:r>
            <a:r>
              <a:rPr sz="3000" spc="-310" dirty="0">
                <a:latin typeface="Tahoma"/>
                <a:cs typeface="Tahoma"/>
              </a:rPr>
              <a:t> </a:t>
            </a:r>
            <a:r>
              <a:rPr sz="3000" spc="-204" dirty="0">
                <a:latin typeface="Tahoma"/>
                <a:cs typeface="Tahoma"/>
              </a:rPr>
              <a:t>Statement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385" dirty="0">
                <a:latin typeface="Tahoma"/>
                <a:cs typeface="Tahoma"/>
              </a:rPr>
              <a:t>&amp;</a:t>
            </a:r>
            <a:r>
              <a:rPr sz="3000" spc="-310" dirty="0">
                <a:latin typeface="Tahoma"/>
                <a:cs typeface="Tahoma"/>
              </a:rPr>
              <a:t> </a:t>
            </a:r>
            <a:r>
              <a:rPr sz="3000" spc="-250" dirty="0">
                <a:latin typeface="Tahoma"/>
                <a:cs typeface="Tahoma"/>
              </a:rPr>
              <a:t>Research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Qs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32519" y="2028800"/>
            <a:ext cx="448945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spc="-25" dirty="0">
                <a:solidFill>
                  <a:srgbClr val="440099"/>
                </a:solidFill>
                <a:latin typeface="Arial MT"/>
                <a:cs typeface="Arial MT"/>
              </a:rPr>
              <a:t>02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32519" y="3152270"/>
            <a:ext cx="452755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spc="35" dirty="0">
                <a:solidFill>
                  <a:srgbClr val="440099"/>
                </a:solidFill>
                <a:latin typeface="Arial MT"/>
                <a:cs typeface="Arial MT"/>
              </a:rPr>
              <a:t>03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3955" y="3123970"/>
            <a:ext cx="1961514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160" dirty="0">
                <a:latin typeface="Tahoma"/>
                <a:cs typeface="Tahoma"/>
              </a:rPr>
              <a:t>Methodology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32519" y="4275739"/>
            <a:ext cx="480695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spc="150" dirty="0">
                <a:solidFill>
                  <a:srgbClr val="440099"/>
                </a:solidFill>
                <a:latin typeface="Arial MT"/>
                <a:cs typeface="Arial MT"/>
              </a:rPr>
              <a:t>04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3955" y="4245838"/>
            <a:ext cx="106680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175" dirty="0">
                <a:latin typeface="Tahoma"/>
                <a:cs typeface="Tahoma"/>
              </a:rPr>
              <a:t>Results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36556" y="5269030"/>
            <a:ext cx="452120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spc="30" dirty="0">
                <a:solidFill>
                  <a:srgbClr val="440099"/>
                </a:solidFill>
                <a:latin typeface="Arial MT"/>
                <a:cs typeface="Arial MT"/>
              </a:rPr>
              <a:t>05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43955" y="6327874"/>
            <a:ext cx="161607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170" dirty="0">
                <a:latin typeface="Tahoma"/>
                <a:cs typeface="Tahoma"/>
              </a:rPr>
              <a:t>Conclusion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37665" y="5238360"/>
            <a:ext cx="198945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215" dirty="0">
                <a:latin typeface="Tahoma"/>
                <a:cs typeface="Tahoma"/>
              </a:rPr>
              <a:t>Error</a:t>
            </a:r>
            <a:r>
              <a:rPr sz="3000" spc="-310" dirty="0">
                <a:latin typeface="Tahoma"/>
                <a:cs typeface="Tahoma"/>
              </a:rPr>
              <a:t> </a:t>
            </a:r>
            <a:r>
              <a:rPr sz="3000" spc="-155" dirty="0">
                <a:latin typeface="Tahoma"/>
                <a:cs typeface="Tahoma"/>
              </a:rPr>
              <a:t>Analysis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32519" y="6355212"/>
            <a:ext cx="460375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spc="70" dirty="0">
                <a:solidFill>
                  <a:srgbClr val="440099"/>
                </a:solidFill>
                <a:latin typeface="Arial MT"/>
                <a:cs typeface="Arial MT"/>
              </a:rPr>
              <a:t>06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5741" y="2723858"/>
            <a:ext cx="11172825" cy="2085975"/>
          </a:xfrm>
          <a:custGeom>
            <a:avLst/>
            <a:gdLst/>
            <a:ahLst/>
            <a:cxnLst/>
            <a:rect l="l" t="t" r="r" b="b"/>
            <a:pathLst>
              <a:path w="11172825" h="2085975">
                <a:moveTo>
                  <a:pt x="10142557" y="2085896"/>
                </a:moveTo>
                <a:lnTo>
                  <a:pt x="1030108" y="2085896"/>
                </a:lnTo>
                <a:lnTo>
                  <a:pt x="978951" y="2084011"/>
                </a:lnTo>
                <a:lnTo>
                  <a:pt x="927947" y="2079619"/>
                </a:lnTo>
                <a:lnTo>
                  <a:pt x="877220" y="2072729"/>
                </a:lnTo>
                <a:lnTo>
                  <a:pt x="826893" y="2063359"/>
                </a:lnTo>
                <a:lnTo>
                  <a:pt x="777086" y="2051531"/>
                </a:lnTo>
                <a:lnTo>
                  <a:pt x="727919" y="2037273"/>
                </a:lnTo>
                <a:lnTo>
                  <a:pt x="679511" y="2020619"/>
                </a:lnTo>
                <a:lnTo>
                  <a:pt x="631979" y="2001610"/>
                </a:lnTo>
                <a:lnTo>
                  <a:pt x="585436" y="1980292"/>
                </a:lnTo>
                <a:lnTo>
                  <a:pt x="539996" y="1956716"/>
                </a:lnTo>
                <a:lnTo>
                  <a:pt x="495767" y="1930939"/>
                </a:lnTo>
                <a:lnTo>
                  <a:pt x="452856" y="1903022"/>
                </a:lnTo>
                <a:lnTo>
                  <a:pt x="411367" y="1873034"/>
                </a:lnTo>
                <a:lnTo>
                  <a:pt x="371399" y="1841046"/>
                </a:lnTo>
                <a:lnTo>
                  <a:pt x="333049" y="1807135"/>
                </a:lnTo>
                <a:lnTo>
                  <a:pt x="296409" y="1771384"/>
                </a:lnTo>
                <a:lnTo>
                  <a:pt x="261568" y="1733877"/>
                </a:lnTo>
                <a:lnTo>
                  <a:pt x="228609" y="1694707"/>
                </a:lnTo>
                <a:lnTo>
                  <a:pt x="197611" y="1653966"/>
                </a:lnTo>
                <a:lnTo>
                  <a:pt x="168650" y="1611753"/>
                </a:lnTo>
                <a:lnTo>
                  <a:pt x="141795" y="1568170"/>
                </a:lnTo>
                <a:lnTo>
                  <a:pt x="117111" y="1523322"/>
                </a:lnTo>
                <a:lnTo>
                  <a:pt x="94657" y="1477317"/>
                </a:lnTo>
                <a:lnTo>
                  <a:pt x="74488" y="1430265"/>
                </a:lnTo>
                <a:lnTo>
                  <a:pt x="56652" y="1382280"/>
                </a:lnTo>
                <a:lnTo>
                  <a:pt x="41191" y="1333478"/>
                </a:lnTo>
                <a:lnTo>
                  <a:pt x="28144" y="1283976"/>
                </a:lnTo>
                <a:lnTo>
                  <a:pt x="17542" y="1233894"/>
                </a:lnTo>
                <a:lnTo>
                  <a:pt x="9409" y="1183352"/>
                </a:lnTo>
                <a:lnTo>
                  <a:pt x="3767" y="1132471"/>
                </a:lnTo>
                <a:lnTo>
                  <a:pt x="628" y="1081375"/>
                </a:lnTo>
                <a:lnTo>
                  <a:pt x="0" y="1055787"/>
                </a:lnTo>
                <a:lnTo>
                  <a:pt x="0" y="1030187"/>
                </a:lnTo>
                <a:lnTo>
                  <a:pt x="1884" y="979029"/>
                </a:lnTo>
                <a:lnTo>
                  <a:pt x="6276" y="928026"/>
                </a:lnTo>
                <a:lnTo>
                  <a:pt x="13166" y="877299"/>
                </a:lnTo>
                <a:lnTo>
                  <a:pt x="22536" y="826971"/>
                </a:lnTo>
                <a:lnTo>
                  <a:pt x="34364" y="777164"/>
                </a:lnTo>
                <a:lnTo>
                  <a:pt x="48622" y="727998"/>
                </a:lnTo>
                <a:lnTo>
                  <a:pt x="65276" y="679590"/>
                </a:lnTo>
                <a:lnTo>
                  <a:pt x="84285" y="632057"/>
                </a:lnTo>
                <a:lnTo>
                  <a:pt x="105603" y="585515"/>
                </a:lnTo>
                <a:lnTo>
                  <a:pt x="129179" y="540074"/>
                </a:lnTo>
                <a:lnTo>
                  <a:pt x="154956" y="495846"/>
                </a:lnTo>
                <a:lnTo>
                  <a:pt x="182873" y="452935"/>
                </a:lnTo>
                <a:lnTo>
                  <a:pt x="212861" y="411446"/>
                </a:lnTo>
                <a:lnTo>
                  <a:pt x="244849" y="371478"/>
                </a:lnTo>
                <a:lnTo>
                  <a:pt x="278760" y="333128"/>
                </a:lnTo>
                <a:lnTo>
                  <a:pt x="314511" y="296488"/>
                </a:lnTo>
                <a:lnTo>
                  <a:pt x="352018" y="261646"/>
                </a:lnTo>
                <a:lnTo>
                  <a:pt x="391189" y="228687"/>
                </a:lnTo>
                <a:lnTo>
                  <a:pt x="431929" y="197690"/>
                </a:lnTo>
                <a:lnTo>
                  <a:pt x="474142" y="168729"/>
                </a:lnTo>
                <a:lnTo>
                  <a:pt x="517725" y="141874"/>
                </a:lnTo>
                <a:lnTo>
                  <a:pt x="562573" y="117189"/>
                </a:lnTo>
                <a:lnTo>
                  <a:pt x="608578" y="94736"/>
                </a:lnTo>
                <a:lnTo>
                  <a:pt x="655630" y="74566"/>
                </a:lnTo>
                <a:lnTo>
                  <a:pt x="703615" y="56730"/>
                </a:lnTo>
                <a:lnTo>
                  <a:pt x="752417" y="41270"/>
                </a:lnTo>
                <a:lnTo>
                  <a:pt x="801919" y="28223"/>
                </a:lnTo>
                <a:lnTo>
                  <a:pt x="852001" y="17620"/>
                </a:lnTo>
                <a:lnTo>
                  <a:pt x="902543" y="9488"/>
                </a:lnTo>
                <a:lnTo>
                  <a:pt x="953424" y="3845"/>
                </a:lnTo>
                <a:lnTo>
                  <a:pt x="1004520" y="706"/>
                </a:lnTo>
                <a:lnTo>
                  <a:pt x="1042908" y="0"/>
                </a:lnTo>
                <a:lnTo>
                  <a:pt x="10142557" y="78"/>
                </a:lnTo>
                <a:lnTo>
                  <a:pt x="10193715" y="1962"/>
                </a:lnTo>
                <a:lnTo>
                  <a:pt x="10244718" y="6355"/>
                </a:lnTo>
                <a:lnTo>
                  <a:pt x="10295444" y="13244"/>
                </a:lnTo>
                <a:lnTo>
                  <a:pt x="10345772" y="22614"/>
                </a:lnTo>
                <a:lnTo>
                  <a:pt x="10395579" y="34443"/>
                </a:lnTo>
                <a:lnTo>
                  <a:pt x="10444745" y="48701"/>
                </a:lnTo>
                <a:lnTo>
                  <a:pt x="10493153" y="65354"/>
                </a:lnTo>
                <a:lnTo>
                  <a:pt x="10540686" y="84363"/>
                </a:lnTo>
                <a:lnTo>
                  <a:pt x="10587228" y="105681"/>
                </a:lnTo>
                <a:lnTo>
                  <a:pt x="10632669" y="129257"/>
                </a:lnTo>
                <a:lnTo>
                  <a:pt x="10676898" y="155035"/>
                </a:lnTo>
                <a:lnTo>
                  <a:pt x="10719810" y="182951"/>
                </a:lnTo>
                <a:lnTo>
                  <a:pt x="10761299" y="212940"/>
                </a:lnTo>
                <a:lnTo>
                  <a:pt x="10801267" y="244928"/>
                </a:lnTo>
                <a:lnTo>
                  <a:pt x="10839616" y="278838"/>
                </a:lnTo>
                <a:lnTo>
                  <a:pt x="10876256" y="314590"/>
                </a:lnTo>
                <a:lnTo>
                  <a:pt x="10911097" y="352096"/>
                </a:lnTo>
                <a:lnTo>
                  <a:pt x="10944057" y="391267"/>
                </a:lnTo>
                <a:lnTo>
                  <a:pt x="10975054" y="432008"/>
                </a:lnTo>
                <a:lnTo>
                  <a:pt x="11004015" y="474221"/>
                </a:lnTo>
                <a:lnTo>
                  <a:pt x="11030870" y="517803"/>
                </a:lnTo>
                <a:lnTo>
                  <a:pt x="11055554" y="562652"/>
                </a:lnTo>
                <a:lnTo>
                  <a:pt x="11078008" y="608657"/>
                </a:lnTo>
                <a:lnTo>
                  <a:pt x="11098177" y="655709"/>
                </a:lnTo>
                <a:lnTo>
                  <a:pt x="11116014" y="703693"/>
                </a:lnTo>
                <a:lnTo>
                  <a:pt x="11131474" y="752495"/>
                </a:lnTo>
                <a:lnTo>
                  <a:pt x="11144520" y="801997"/>
                </a:lnTo>
                <a:lnTo>
                  <a:pt x="11155123" y="852079"/>
                </a:lnTo>
                <a:lnTo>
                  <a:pt x="11163256" y="902622"/>
                </a:lnTo>
                <a:lnTo>
                  <a:pt x="11168900" y="953502"/>
                </a:lnTo>
                <a:lnTo>
                  <a:pt x="11172038" y="1004598"/>
                </a:lnTo>
                <a:lnTo>
                  <a:pt x="11172666" y="1030187"/>
                </a:lnTo>
                <a:lnTo>
                  <a:pt x="11172666" y="1055787"/>
                </a:lnTo>
                <a:lnTo>
                  <a:pt x="11170782" y="1106945"/>
                </a:lnTo>
                <a:lnTo>
                  <a:pt x="11166390" y="1157948"/>
                </a:lnTo>
                <a:lnTo>
                  <a:pt x="11159500" y="1208675"/>
                </a:lnTo>
                <a:lnTo>
                  <a:pt x="11150129" y="1259002"/>
                </a:lnTo>
                <a:lnTo>
                  <a:pt x="11138301" y="1308809"/>
                </a:lnTo>
                <a:lnTo>
                  <a:pt x="11124043" y="1357976"/>
                </a:lnTo>
                <a:lnTo>
                  <a:pt x="11107389" y="1406384"/>
                </a:lnTo>
                <a:lnTo>
                  <a:pt x="11088380" y="1453916"/>
                </a:lnTo>
                <a:lnTo>
                  <a:pt x="11067062" y="1500459"/>
                </a:lnTo>
                <a:lnTo>
                  <a:pt x="11043486" y="1545899"/>
                </a:lnTo>
                <a:lnTo>
                  <a:pt x="11017709" y="1590128"/>
                </a:lnTo>
                <a:lnTo>
                  <a:pt x="10989793" y="1633039"/>
                </a:lnTo>
                <a:lnTo>
                  <a:pt x="10959805" y="1674528"/>
                </a:lnTo>
                <a:lnTo>
                  <a:pt x="10927817" y="1714496"/>
                </a:lnTo>
                <a:lnTo>
                  <a:pt x="10893906" y="1752846"/>
                </a:lnTo>
                <a:lnTo>
                  <a:pt x="10858154" y="1789486"/>
                </a:lnTo>
                <a:lnTo>
                  <a:pt x="10820648" y="1824327"/>
                </a:lnTo>
                <a:lnTo>
                  <a:pt x="10781477" y="1857286"/>
                </a:lnTo>
                <a:lnTo>
                  <a:pt x="10740737" y="1888284"/>
                </a:lnTo>
                <a:lnTo>
                  <a:pt x="10698524" y="1917245"/>
                </a:lnTo>
                <a:lnTo>
                  <a:pt x="10654940" y="1944100"/>
                </a:lnTo>
                <a:lnTo>
                  <a:pt x="10610092" y="1968784"/>
                </a:lnTo>
                <a:lnTo>
                  <a:pt x="10564086" y="1991238"/>
                </a:lnTo>
                <a:lnTo>
                  <a:pt x="10517034" y="2011407"/>
                </a:lnTo>
                <a:lnTo>
                  <a:pt x="10469049" y="2029243"/>
                </a:lnTo>
                <a:lnTo>
                  <a:pt x="10420248" y="2044704"/>
                </a:lnTo>
                <a:lnTo>
                  <a:pt x="10370746" y="2057751"/>
                </a:lnTo>
                <a:lnTo>
                  <a:pt x="10320663" y="2068353"/>
                </a:lnTo>
                <a:lnTo>
                  <a:pt x="10270121" y="2076486"/>
                </a:lnTo>
                <a:lnTo>
                  <a:pt x="10219242" y="2082128"/>
                </a:lnTo>
                <a:lnTo>
                  <a:pt x="10168145" y="2085268"/>
                </a:lnTo>
                <a:lnTo>
                  <a:pt x="10142557" y="2085896"/>
                </a:lnTo>
                <a:close/>
              </a:path>
            </a:pathLst>
          </a:custGeom>
          <a:solidFill>
            <a:srgbClr val="440099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1648" y="5136346"/>
            <a:ext cx="9801224" cy="48699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555430" y="400253"/>
            <a:ext cx="11172825" cy="2171700"/>
          </a:xfrm>
          <a:custGeom>
            <a:avLst/>
            <a:gdLst/>
            <a:ahLst/>
            <a:cxnLst/>
            <a:rect l="l" t="t" r="r" b="b"/>
            <a:pathLst>
              <a:path w="11172825" h="2171700">
                <a:moveTo>
                  <a:pt x="10100218" y="2171617"/>
                </a:moveTo>
                <a:lnTo>
                  <a:pt x="1072442" y="2171617"/>
                </a:lnTo>
                <a:lnTo>
                  <a:pt x="1019182" y="2169656"/>
                </a:lnTo>
                <a:lnTo>
                  <a:pt x="966082" y="2165083"/>
                </a:lnTo>
                <a:lnTo>
                  <a:pt x="913271" y="2157910"/>
                </a:lnTo>
                <a:lnTo>
                  <a:pt x="860875" y="2148155"/>
                </a:lnTo>
                <a:lnTo>
                  <a:pt x="809021" y="2135840"/>
                </a:lnTo>
                <a:lnTo>
                  <a:pt x="757833" y="2120997"/>
                </a:lnTo>
                <a:lnTo>
                  <a:pt x="707436" y="2103658"/>
                </a:lnTo>
                <a:lnTo>
                  <a:pt x="657950" y="2083869"/>
                </a:lnTo>
                <a:lnTo>
                  <a:pt x="609495" y="2061674"/>
                </a:lnTo>
                <a:lnTo>
                  <a:pt x="562187" y="2037130"/>
                </a:lnTo>
                <a:lnTo>
                  <a:pt x="516141" y="2010293"/>
                </a:lnTo>
                <a:lnTo>
                  <a:pt x="471467" y="1981229"/>
                </a:lnTo>
                <a:lnTo>
                  <a:pt x="428273" y="1950008"/>
                </a:lnTo>
                <a:lnTo>
                  <a:pt x="386662" y="1916706"/>
                </a:lnTo>
                <a:lnTo>
                  <a:pt x="346736" y="1881401"/>
                </a:lnTo>
                <a:lnTo>
                  <a:pt x="308591" y="1844180"/>
                </a:lnTo>
                <a:lnTo>
                  <a:pt x="272317" y="1805133"/>
                </a:lnTo>
                <a:lnTo>
                  <a:pt x="238004" y="1764352"/>
                </a:lnTo>
                <a:lnTo>
                  <a:pt x="205732" y="1721937"/>
                </a:lnTo>
                <a:lnTo>
                  <a:pt x="175581" y="1677990"/>
                </a:lnTo>
                <a:lnTo>
                  <a:pt x="147622" y="1632616"/>
                </a:lnTo>
                <a:lnTo>
                  <a:pt x="121924" y="1585924"/>
                </a:lnTo>
                <a:lnTo>
                  <a:pt x="98547" y="1538028"/>
                </a:lnTo>
                <a:lnTo>
                  <a:pt x="77549" y="1489043"/>
                </a:lnTo>
                <a:lnTo>
                  <a:pt x="58980" y="1439087"/>
                </a:lnTo>
                <a:lnTo>
                  <a:pt x="42884" y="1388279"/>
                </a:lnTo>
                <a:lnTo>
                  <a:pt x="29301" y="1336743"/>
                </a:lnTo>
                <a:lnTo>
                  <a:pt x="18262" y="1284602"/>
                </a:lnTo>
                <a:lnTo>
                  <a:pt x="9796" y="1231983"/>
                </a:lnTo>
                <a:lnTo>
                  <a:pt x="3922" y="1179011"/>
                </a:lnTo>
                <a:lnTo>
                  <a:pt x="653" y="1125815"/>
                </a:lnTo>
                <a:lnTo>
                  <a:pt x="0" y="1072523"/>
                </a:lnTo>
                <a:lnTo>
                  <a:pt x="653" y="1045883"/>
                </a:lnTo>
                <a:lnTo>
                  <a:pt x="3922" y="992687"/>
                </a:lnTo>
                <a:lnTo>
                  <a:pt x="9796" y="939716"/>
                </a:lnTo>
                <a:lnTo>
                  <a:pt x="18262" y="887097"/>
                </a:lnTo>
                <a:lnTo>
                  <a:pt x="29301" y="834956"/>
                </a:lnTo>
                <a:lnTo>
                  <a:pt x="42884" y="783420"/>
                </a:lnTo>
                <a:lnTo>
                  <a:pt x="58980" y="732612"/>
                </a:lnTo>
                <a:lnTo>
                  <a:pt x="77549" y="682656"/>
                </a:lnTo>
                <a:lnTo>
                  <a:pt x="98547" y="633670"/>
                </a:lnTo>
                <a:lnTo>
                  <a:pt x="121924" y="585774"/>
                </a:lnTo>
                <a:lnTo>
                  <a:pt x="147622" y="539083"/>
                </a:lnTo>
                <a:lnTo>
                  <a:pt x="175581" y="493709"/>
                </a:lnTo>
                <a:lnTo>
                  <a:pt x="205732" y="449762"/>
                </a:lnTo>
                <a:lnTo>
                  <a:pt x="238004" y="407347"/>
                </a:lnTo>
                <a:lnTo>
                  <a:pt x="272317" y="366566"/>
                </a:lnTo>
                <a:lnTo>
                  <a:pt x="308591" y="327518"/>
                </a:lnTo>
                <a:lnTo>
                  <a:pt x="346736" y="290297"/>
                </a:lnTo>
                <a:lnTo>
                  <a:pt x="386662" y="254993"/>
                </a:lnTo>
                <a:lnTo>
                  <a:pt x="428273" y="221691"/>
                </a:lnTo>
                <a:lnTo>
                  <a:pt x="471467" y="190470"/>
                </a:lnTo>
                <a:lnTo>
                  <a:pt x="516141" y="161406"/>
                </a:lnTo>
                <a:lnTo>
                  <a:pt x="562187" y="134569"/>
                </a:lnTo>
                <a:lnTo>
                  <a:pt x="609495" y="110024"/>
                </a:lnTo>
                <a:lnTo>
                  <a:pt x="657950" y="87830"/>
                </a:lnTo>
                <a:lnTo>
                  <a:pt x="707436" y="68040"/>
                </a:lnTo>
                <a:lnTo>
                  <a:pt x="757833" y="50702"/>
                </a:lnTo>
                <a:lnTo>
                  <a:pt x="809021" y="35858"/>
                </a:lnTo>
                <a:lnTo>
                  <a:pt x="860875" y="23544"/>
                </a:lnTo>
                <a:lnTo>
                  <a:pt x="913271" y="13788"/>
                </a:lnTo>
                <a:lnTo>
                  <a:pt x="966082" y="6616"/>
                </a:lnTo>
                <a:lnTo>
                  <a:pt x="1019182" y="2043"/>
                </a:lnTo>
                <a:lnTo>
                  <a:pt x="1072442" y="81"/>
                </a:lnTo>
                <a:lnTo>
                  <a:pt x="1085768" y="0"/>
                </a:lnTo>
                <a:lnTo>
                  <a:pt x="10100218" y="81"/>
                </a:lnTo>
                <a:lnTo>
                  <a:pt x="10153478" y="2043"/>
                </a:lnTo>
                <a:lnTo>
                  <a:pt x="10206577" y="6616"/>
                </a:lnTo>
                <a:lnTo>
                  <a:pt x="10259388" y="13788"/>
                </a:lnTo>
                <a:lnTo>
                  <a:pt x="10311783" y="23544"/>
                </a:lnTo>
                <a:lnTo>
                  <a:pt x="10363636" y="35858"/>
                </a:lnTo>
                <a:lnTo>
                  <a:pt x="10414825" y="50702"/>
                </a:lnTo>
                <a:lnTo>
                  <a:pt x="10465221" y="68040"/>
                </a:lnTo>
                <a:lnTo>
                  <a:pt x="10514708" y="87830"/>
                </a:lnTo>
                <a:lnTo>
                  <a:pt x="10563164" y="110024"/>
                </a:lnTo>
                <a:lnTo>
                  <a:pt x="10610472" y="134569"/>
                </a:lnTo>
                <a:lnTo>
                  <a:pt x="10656518" y="161406"/>
                </a:lnTo>
                <a:lnTo>
                  <a:pt x="10701191" y="190470"/>
                </a:lnTo>
                <a:lnTo>
                  <a:pt x="10744386" y="221691"/>
                </a:lnTo>
                <a:lnTo>
                  <a:pt x="10785997" y="254993"/>
                </a:lnTo>
                <a:lnTo>
                  <a:pt x="10825923" y="290297"/>
                </a:lnTo>
                <a:lnTo>
                  <a:pt x="10864068" y="327518"/>
                </a:lnTo>
                <a:lnTo>
                  <a:pt x="10900343" y="366566"/>
                </a:lnTo>
                <a:lnTo>
                  <a:pt x="10934657" y="407347"/>
                </a:lnTo>
                <a:lnTo>
                  <a:pt x="10966928" y="449762"/>
                </a:lnTo>
                <a:lnTo>
                  <a:pt x="10997078" y="493709"/>
                </a:lnTo>
                <a:lnTo>
                  <a:pt x="11025037" y="539083"/>
                </a:lnTo>
                <a:lnTo>
                  <a:pt x="11050736" y="585774"/>
                </a:lnTo>
                <a:lnTo>
                  <a:pt x="11074112" y="633670"/>
                </a:lnTo>
                <a:lnTo>
                  <a:pt x="11095110" y="682656"/>
                </a:lnTo>
                <a:lnTo>
                  <a:pt x="11113679" y="732612"/>
                </a:lnTo>
                <a:lnTo>
                  <a:pt x="11129776" y="783420"/>
                </a:lnTo>
                <a:lnTo>
                  <a:pt x="11143359" y="834956"/>
                </a:lnTo>
                <a:lnTo>
                  <a:pt x="11154396" y="887097"/>
                </a:lnTo>
                <a:lnTo>
                  <a:pt x="11162863" y="939716"/>
                </a:lnTo>
                <a:lnTo>
                  <a:pt x="11168738" y="992687"/>
                </a:lnTo>
                <a:lnTo>
                  <a:pt x="11172005" y="1045883"/>
                </a:lnTo>
                <a:lnTo>
                  <a:pt x="11172659" y="1072523"/>
                </a:lnTo>
                <a:lnTo>
                  <a:pt x="11172659" y="1099175"/>
                </a:lnTo>
                <a:lnTo>
                  <a:pt x="11170698" y="1152435"/>
                </a:lnTo>
                <a:lnTo>
                  <a:pt x="11166125" y="1205535"/>
                </a:lnTo>
                <a:lnTo>
                  <a:pt x="11158952" y="1258347"/>
                </a:lnTo>
                <a:lnTo>
                  <a:pt x="11149197" y="1310742"/>
                </a:lnTo>
                <a:lnTo>
                  <a:pt x="11136883" y="1362596"/>
                </a:lnTo>
                <a:lnTo>
                  <a:pt x="11122039" y="1413783"/>
                </a:lnTo>
                <a:lnTo>
                  <a:pt x="11104700" y="1464181"/>
                </a:lnTo>
                <a:lnTo>
                  <a:pt x="11084910" y="1513666"/>
                </a:lnTo>
                <a:lnTo>
                  <a:pt x="11062717" y="1562122"/>
                </a:lnTo>
                <a:lnTo>
                  <a:pt x="11038172" y="1609430"/>
                </a:lnTo>
                <a:lnTo>
                  <a:pt x="11011335" y="1655476"/>
                </a:lnTo>
                <a:lnTo>
                  <a:pt x="10982271" y="1700150"/>
                </a:lnTo>
                <a:lnTo>
                  <a:pt x="10951051" y="1743344"/>
                </a:lnTo>
                <a:lnTo>
                  <a:pt x="10917749" y="1784955"/>
                </a:lnTo>
                <a:lnTo>
                  <a:pt x="10882443" y="1824881"/>
                </a:lnTo>
                <a:lnTo>
                  <a:pt x="10845223" y="1863026"/>
                </a:lnTo>
                <a:lnTo>
                  <a:pt x="10806175" y="1899300"/>
                </a:lnTo>
                <a:lnTo>
                  <a:pt x="10765394" y="1933614"/>
                </a:lnTo>
                <a:lnTo>
                  <a:pt x="10722979" y="1965885"/>
                </a:lnTo>
                <a:lnTo>
                  <a:pt x="10679031" y="1996036"/>
                </a:lnTo>
                <a:lnTo>
                  <a:pt x="10633658" y="2023995"/>
                </a:lnTo>
                <a:lnTo>
                  <a:pt x="10586967" y="2049693"/>
                </a:lnTo>
                <a:lnTo>
                  <a:pt x="10539070" y="2073070"/>
                </a:lnTo>
                <a:lnTo>
                  <a:pt x="10490084" y="2094068"/>
                </a:lnTo>
                <a:lnTo>
                  <a:pt x="10440128" y="2112637"/>
                </a:lnTo>
                <a:lnTo>
                  <a:pt x="10389320" y="2128733"/>
                </a:lnTo>
                <a:lnTo>
                  <a:pt x="10337783" y="2142316"/>
                </a:lnTo>
                <a:lnTo>
                  <a:pt x="10285644" y="2153354"/>
                </a:lnTo>
                <a:lnTo>
                  <a:pt x="10233024" y="2161821"/>
                </a:lnTo>
                <a:lnTo>
                  <a:pt x="10180054" y="2167696"/>
                </a:lnTo>
                <a:lnTo>
                  <a:pt x="10126859" y="2170963"/>
                </a:lnTo>
                <a:lnTo>
                  <a:pt x="10100218" y="2171617"/>
                </a:lnTo>
                <a:close/>
              </a:path>
            </a:pathLst>
          </a:custGeom>
          <a:solidFill>
            <a:srgbClr val="440099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0222" y="618674"/>
            <a:ext cx="7835265" cy="16414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710"/>
              </a:spcBef>
            </a:pPr>
            <a:r>
              <a:rPr sz="3850" spc="-395" dirty="0">
                <a:latin typeface="Arial MT"/>
                <a:cs typeface="Arial MT"/>
              </a:rPr>
              <a:t>"A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380" dirty="0">
                <a:latin typeface="Arial MT"/>
                <a:cs typeface="Arial MT"/>
              </a:rPr>
              <a:t>deceased</a:t>
            </a:r>
            <a:r>
              <a:rPr sz="3850" spc="-300" dirty="0">
                <a:latin typeface="Arial MT"/>
                <a:cs typeface="Arial MT"/>
              </a:rPr>
              <a:t> </a:t>
            </a:r>
            <a:r>
              <a:rPr sz="3850" spc="-195" dirty="0">
                <a:latin typeface="Arial MT"/>
                <a:cs typeface="Arial MT"/>
              </a:rPr>
              <a:t>individual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450" dirty="0">
                <a:latin typeface="Arial MT"/>
                <a:cs typeface="Arial MT"/>
              </a:rPr>
              <a:t>was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195" dirty="0">
                <a:latin typeface="Arial MT"/>
                <a:cs typeface="Arial MT"/>
              </a:rPr>
              <a:t>found</a:t>
            </a:r>
            <a:r>
              <a:rPr sz="3850" spc="-300" dirty="0">
                <a:latin typeface="Arial MT"/>
                <a:cs typeface="Arial MT"/>
              </a:rPr>
              <a:t> </a:t>
            </a:r>
            <a:r>
              <a:rPr sz="3850" spc="-175" dirty="0">
                <a:latin typeface="Arial MT"/>
                <a:cs typeface="Arial MT"/>
              </a:rPr>
              <a:t>in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375" dirty="0">
                <a:latin typeface="Arial MT"/>
                <a:cs typeface="Arial MT"/>
              </a:rPr>
              <a:t>Huma </a:t>
            </a:r>
            <a:r>
              <a:rPr sz="3850" spc="-295" dirty="0">
                <a:latin typeface="Arial MT"/>
                <a:cs typeface="Arial MT"/>
              </a:rPr>
              <a:t>Abedin's</a:t>
            </a:r>
            <a:r>
              <a:rPr sz="3850" spc="-290" dirty="0">
                <a:latin typeface="Arial MT"/>
                <a:cs typeface="Arial MT"/>
              </a:rPr>
              <a:t> </a:t>
            </a:r>
            <a:r>
              <a:rPr sz="3850" spc="-265" dirty="0">
                <a:latin typeface="Arial MT"/>
                <a:cs typeface="Arial MT"/>
              </a:rPr>
              <a:t>dumpster,</a:t>
            </a:r>
            <a:r>
              <a:rPr sz="3850" spc="-290" dirty="0">
                <a:latin typeface="Arial MT"/>
                <a:cs typeface="Arial MT"/>
              </a:rPr>
              <a:t> </a:t>
            </a:r>
            <a:r>
              <a:rPr sz="3850" spc="-165" dirty="0">
                <a:latin typeface="Arial MT"/>
                <a:cs typeface="Arial MT"/>
              </a:rPr>
              <a:t>with</a:t>
            </a:r>
            <a:r>
              <a:rPr sz="3850" spc="-285" dirty="0">
                <a:latin typeface="Arial MT"/>
                <a:cs typeface="Arial MT"/>
              </a:rPr>
              <a:t> </a:t>
            </a:r>
            <a:r>
              <a:rPr sz="3850" spc="-170" dirty="0">
                <a:latin typeface="Arial MT"/>
                <a:cs typeface="Arial MT"/>
              </a:rPr>
              <a:t>Hillary</a:t>
            </a:r>
            <a:r>
              <a:rPr sz="3850" spc="-290" dirty="0">
                <a:latin typeface="Arial MT"/>
                <a:cs typeface="Arial MT"/>
              </a:rPr>
              <a:t> </a:t>
            </a:r>
            <a:r>
              <a:rPr sz="3850" spc="-55" dirty="0">
                <a:latin typeface="Arial MT"/>
                <a:cs typeface="Arial MT"/>
              </a:rPr>
              <a:t>Clinton </a:t>
            </a:r>
            <a:r>
              <a:rPr sz="3850" spc="-204" dirty="0">
                <a:latin typeface="Arial MT"/>
                <a:cs typeface="Arial MT"/>
              </a:rPr>
              <a:t>currently</a:t>
            </a:r>
            <a:r>
              <a:rPr sz="3850" spc="-280" dirty="0">
                <a:latin typeface="Arial MT"/>
                <a:cs typeface="Arial MT"/>
              </a:rPr>
              <a:t> </a:t>
            </a:r>
            <a:r>
              <a:rPr sz="3850" spc="-300" dirty="0">
                <a:latin typeface="Arial MT"/>
                <a:cs typeface="Arial MT"/>
              </a:rPr>
              <a:t>absent</a:t>
            </a:r>
            <a:r>
              <a:rPr sz="3850" spc="-280" dirty="0">
                <a:latin typeface="Arial MT"/>
                <a:cs typeface="Arial MT"/>
              </a:rPr>
              <a:t> </a:t>
            </a:r>
            <a:r>
              <a:rPr sz="3850" spc="-170" dirty="0">
                <a:latin typeface="Arial MT"/>
                <a:cs typeface="Arial MT"/>
              </a:rPr>
              <a:t>from</a:t>
            </a:r>
            <a:r>
              <a:rPr sz="3850" spc="-280" dirty="0">
                <a:latin typeface="Arial MT"/>
                <a:cs typeface="Arial MT"/>
              </a:rPr>
              <a:t> </a:t>
            </a:r>
            <a:r>
              <a:rPr sz="3850" spc="-200" dirty="0">
                <a:latin typeface="Arial MT"/>
                <a:cs typeface="Arial MT"/>
              </a:rPr>
              <a:t>public</a:t>
            </a:r>
            <a:r>
              <a:rPr sz="3850" spc="-280" dirty="0">
                <a:latin typeface="Arial MT"/>
                <a:cs typeface="Arial MT"/>
              </a:rPr>
              <a:t> </a:t>
            </a:r>
            <a:r>
              <a:rPr sz="3850" spc="-345" dirty="0">
                <a:latin typeface="Arial MT"/>
                <a:cs typeface="Arial MT"/>
              </a:rPr>
              <a:t>view."</a:t>
            </a:r>
            <a:endParaRPr sz="38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7127" y="3193254"/>
            <a:ext cx="8073390" cy="112712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710"/>
              </a:spcBef>
            </a:pPr>
            <a:r>
              <a:rPr sz="3850" spc="-350" dirty="0">
                <a:latin typeface="Arial MT"/>
                <a:cs typeface="Arial MT"/>
              </a:rPr>
              <a:t>"The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280" dirty="0">
                <a:latin typeface="Arial MT"/>
                <a:cs typeface="Arial MT"/>
              </a:rPr>
              <a:t>Democratic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180" dirty="0">
                <a:latin typeface="Arial MT"/>
                <a:cs typeface="Arial MT"/>
              </a:rPr>
              <a:t>party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330" dirty="0">
                <a:latin typeface="Arial MT"/>
                <a:cs typeface="Arial MT"/>
              </a:rPr>
              <a:t>aims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75" dirty="0">
                <a:latin typeface="Arial MT"/>
                <a:cs typeface="Arial MT"/>
              </a:rPr>
              <a:t>to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170" dirty="0">
                <a:latin typeface="Arial MT"/>
                <a:cs typeface="Arial MT"/>
              </a:rPr>
              <a:t>prioritize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114" dirty="0">
                <a:latin typeface="Arial MT"/>
                <a:cs typeface="Arial MT"/>
              </a:rPr>
              <a:t>the </a:t>
            </a:r>
            <a:r>
              <a:rPr sz="3850" spc="-165" dirty="0">
                <a:latin typeface="Arial MT"/>
                <a:cs typeface="Arial MT"/>
              </a:rPr>
              <a:t>abolition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100" dirty="0">
                <a:latin typeface="Arial MT"/>
                <a:cs typeface="Arial MT"/>
              </a:rPr>
              <a:t>of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515" dirty="0">
                <a:latin typeface="Arial MT"/>
                <a:cs typeface="Arial MT"/>
              </a:rPr>
              <a:t>ICE</a:t>
            </a:r>
            <a:r>
              <a:rPr sz="3850" spc="-290" dirty="0">
                <a:latin typeface="Arial MT"/>
                <a:cs typeface="Arial MT"/>
              </a:rPr>
              <a:t> </a:t>
            </a:r>
            <a:r>
              <a:rPr sz="3850" spc="-175" dirty="0">
                <a:latin typeface="Arial MT"/>
                <a:cs typeface="Arial MT"/>
              </a:rPr>
              <a:t>in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210" dirty="0">
                <a:latin typeface="Arial MT"/>
                <a:cs typeface="Arial MT"/>
              </a:rPr>
              <a:t>the</a:t>
            </a:r>
            <a:r>
              <a:rPr sz="3850" spc="-295" dirty="0">
                <a:latin typeface="Arial MT"/>
                <a:cs typeface="Arial MT"/>
              </a:rPr>
              <a:t> </a:t>
            </a:r>
            <a:r>
              <a:rPr sz="3850" spc="-70" dirty="0">
                <a:latin typeface="Arial MT"/>
                <a:cs typeface="Arial MT"/>
              </a:rPr>
              <a:t>2020</a:t>
            </a:r>
            <a:r>
              <a:rPr sz="3850" spc="-290" dirty="0">
                <a:latin typeface="Arial MT"/>
                <a:cs typeface="Arial MT"/>
              </a:rPr>
              <a:t> elections."</a:t>
            </a:r>
            <a:endParaRPr sz="38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82003" y="756897"/>
            <a:ext cx="1300480" cy="1270000"/>
          </a:xfrm>
          <a:custGeom>
            <a:avLst/>
            <a:gdLst/>
            <a:ahLst/>
            <a:cxnLst/>
            <a:rect l="l" t="t" r="r" b="b"/>
            <a:pathLst>
              <a:path w="1300479" h="1270000">
                <a:moveTo>
                  <a:pt x="762868" y="12699"/>
                </a:moveTo>
                <a:lnTo>
                  <a:pt x="537471" y="12699"/>
                </a:lnTo>
                <a:lnTo>
                  <a:pt x="549788" y="0"/>
                </a:lnTo>
                <a:lnTo>
                  <a:pt x="750552" y="0"/>
                </a:lnTo>
                <a:lnTo>
                  <a:pt x="762868" y="12699"/>
                </a:lnTo>
                <a:close/>
              </a:path>
              <a:path w="1300479" h="1270000">
                <a:moveTo>
                  <a:pt x="811195" y="25399"/>
                </a:moveTo>
                <a:lnTo>
                  <a:pt x="489144" y="25399"/>
                </a:lnTo>
                <a:lnTo>
                  <a:pt x="501075" y="12699"/>
                </a:lnTo>
                <a:lnTo>
                  <a:pt x="799265" y="12699"/>
                </a:lnTo>
                <a:lnTo>
                  <a:pt x="811195" y="25399"/>
                </a:lnTo>
                <a:close/>
              </a:path>
              <a:path w="1300479" h="1270000">
                <a:moveTo>
                  <a:pt x="846223" y="38099"/>
                </a:moveTo>
                <a:lnTo>
                  <a:pt x="454116" y="38099"/>
                </a:lnTo>
                <a:lnTo>
                  <a:pt x="465665" y="25399"/>
                </a:lnTo>
                <a:lnTo>
                  <a:pt x="834675" y="25399"/>
                </a:lnTo>
                <a:lnTo>
                  <a:pt x="846223" y="38099"/>
                </a:lnTo>
                <a:close/>
              </a:path>
              <a:path w="1300479" h="1270000">
                <a:moveTo>
                  <a:pt x="868871" y="50799"/>
                </a:moveTo>
                <a:lnTo>
                  <a:pt x="431468" y="50799"/>
                </a:lnTo>
                <a:lnTo>
                  <a:pt x="442712" y="38099"/>
                </a:lnTo>
                <a:lnTo>
                  <a:pt x="857628" y="38099"/>
                </a:lnTo>
                <a:lnTo>
                  <a:pt x="868871" y="50799"/>
                </a:lnTo>
                <a:close/>
              </a:path>
              <a:path w="1300479" h="1270000">
                <a:moveTo>
                  <a:pt x="890875" y="63499"/>
                </a:moveTo>
                <a:lnTo>
                  <a:pt x="409465" y="63499"/>
                </a:lnTo>
                <a:lnTo>
                  <a:pt x="420386" y="50799"/>
                </a:lnTo>
                <a:lnTo>
                  <a:pt x="879954" y="50799"/>
                </a:lnTo>
                <a:lnTo>
                  <a:pt x="890875" y="63499"/>
                </a:lnTo>
                <a:close/>
              </a:path>
              <a:path w="1300479" h="1270000">
                <a:moveTo>
                  <a:pt x="912171" y="76199"/>
                </a:moveTo>
                <a:lnTo>
                  <a:pt x="388169" y="76199"/>
                </a:lnTo>
                <a:lnTo>
                  <a:pt x="398720" y="63499"/>
                </a:lnTo>
                <a:lnTo>
                  <a:pt x="901619" y="63499"/>
                </a:lnTo>
                <a:lnTo>
                  <a:pt x="912171" y="76199"/>
                </a:lnTo>
                <a:close/>
              </a:path>
              <a:path w="1300479" h="1270000">
                <a:moveTo>
                  <a:pt x="942652" y="101599"/>
                </a:moveTo>
                <a:lnTo>
                  <a:pt x="357687" y="101599"/>
                </a:lnTo>
                <a:lnTo>
                  <a:pt x="367645" y="88899"/>
                </a:lnTo>
                <a:lnTo>
                  <a:pt x="377810" y="76199"/>
                </a:lnTo>
                <a:lnTo>
                  <a:pt x="922529" y="76199"/>
                </a:lnTo>
                <a:lnTo>
                  <a:pt x="932694" y="88899"/>
                </a:lnTo>
                <a:lnTo>
                  <a:pt x="942652" y="101599"/>
                </a:lnTo>
                <a:close/>
              </a:path>
              <a:path w="1300479" h="1270000">
                <a:moveTo>
                  <a:pt x="519694" y="126999"/>
                </a:moveTo>
                <a:lnTo>
                  <a:pt x="329150" y="126999"/>
                </a:lnTo>
                <a:lnTo>
                  <a:pt x="338440" y="114299"/>
                </a:lnTo>
                <a:lnTo>
                  <a:pt x="347952" y="101599"/>
                </a:lnTo>
                <a:lnTo>
                  <a:pt x="570733" y="101599"/>
                </a:lnTo>
                <a:lnTo>
                  <a:pt x="562078" y="114299"/>
                </a:lnTo>
                <a:lnTo>
                  <a:pt x="528032" y="114299"/>
                </a:lnTo>
                <a:lnTo>
                  <a:pt x="519694" y="126999"/>
                </a:lnTo>
                <a:close/>
              </a:path>
              <a:path w="1300479" h="1270000">
                <a:moveTo>
                  <a:pt x="971190" y="126999"/>
                </a:moveTo>
                <a:lnTo>
                  <a:pt x="780645" y="126999"/>
                </a:lnTo>
                <a:lnTo>
                  <a:pt x="772308" y="114299"/>
                </a:lnTo>
                <a:lnTo>
                  <a:pt x="738261" y="114299"/>
                </a:lnTo>
                <a:lnTo>
                  <a:pt x="729607" y="101599"/>
                </a:lnTo>
                <a:lnTo>
                  <a:pt x="952387" y="101599"/>
                </a:lnTo>
                <a:lnTo>
                  <a:pt x="961900" y="114299"/>
                </a:lnTo>
                <a:lnTo>
                  <a:pt x="971190" y="126999"/>
                </a:lnTo>
                <a:close/>
              </a:path>
              <a:path w="1300479" h="1270000">
                <a:moveTo>
                  <a:pt x="463784" y="152399"/>
                </a:moveTo>
                <a:lnTo>
                  <a:pt x="302737" y="152399"/>
                </a:lnTo>
                <a:lnTo>
                  <a:pt x="311292" y="139699"/>
                </a:lnTo>
                <a:lnTo>
                  <a:pt x="320096" y="126999"/>
                </a:lnTo>
                <a:lnTo>
                  <a:pt x="495162" y="126999"/>
                </a:lnTo>
                <a:lnTo>
                  <a:pt x="487168" y="139699"/>
                </a:lnTo>
                <a:lnTo>
                  <a:pt x="471469" y="139699"/>
                </a:lnTo>
                <a:lnTo>
                  <a:pt x="463784" y="152399"/>
                </a:lnTo>
                <a:close/>
              </a:path>
              <a:path w="1300479" h="1270000">
                <a:moveTo>
                  <a:pt x="997602" y="152399"/>
                </a:moveTo>
                <a:lnTo>
                  <a:pt x="836555" y="152399"/>
                </a:lnTo>
                <a:lnTo>
                  <a:pt x="828870" y="139699"/>
                </a:lnTo>
                <a:lnTo>
                  <a:pt x="813172" y="139699"/>
                </a:lnTo>
                <a:lnTo>
                  <a:pt x="805178" y="126999"/>
                </a:lnTo>
                <a:lnTo>
                  <a:pt x="980243" y="126999"/>
                </a:lnTo>
                <a:lnTo>
                  <a:pt x="989048" y="139699"/>
                </a:lnTo>
                <a:lnTo>
                  <a:pt x="997602" y="152399"/>
                </a:lnTo>
                <a:close/>
              </a:path>
              <a:path w="1300479" h="1270000">
                <a:moveTo>
                  <a:pt x="400182" y="203199"/>
                </a:moveTo>
                <a:lnTo>
                  <a:pt x="263900" y="203199"/>
                </a:lnTo>
                <a:lnTo>
                  <a:pt x="271122" y="190499"/>
                </a:lnTo>
                <a:lnTo>
                  <a:pt x="278619" y="177799"/>
                </a:lnTo>
                <a:lnTo>
                  <a:pt x="286388" y="165099"/>
                </a:lnTo>
                <a:lnTo>
                  <a:pt x="294432" y="152399"/>
                </a:lnTo>
                <a:lnTo>
                  <a:pt x="448750" y="152399"/>
                </a:lnTo>
                <a:lnTo>
                  <a:pt x="441411" y="165099"/>
                </a:lnTo>
                <a:lnTo>
                  <a:pt x="434202" y="165099"/>
                </a:lnTo>
                <a:lnTo>
                  <a:pt x="427122" y="177799"/>
                </a:lnTo>
                <a:lnTo>
                  <a:pt x="420173" y="177799"/>
                </a:lnTo>
                <a:lnTo>
                  <a:pt x="413363" y="190499"/>
                </a:lnTo>
                <a:lnTo>
                  <a:pt x="406699" y="190499"/>
                </a:lnTo>
                <a:lnTo>
                  <a:pt x="400182" y="203199"/>
                </a:lnTo>
                <a:close/>
              </a:path>
              <a:path w="1300479" h="1270000">
                <a:moveTo>
                  <a:pt x="1036440" y="203199"/>
                </a:moveTo>
                <a:lnTo>
                  <a:pt x="900158" y="203199"/>
                </a:lnTo>
                <a:lnTo>
                  <a:pt x="893640" y="190499"/>
                </a:lnTo>
                <a:lnTo>
                  <a:pt x="886977" y="190499"/>
                </a:lnTo>
                <a:lnTo>
                  <a:pt x="880166" y="177799"/>
                </a:lnTo>
                <a:lnTo>
                  <a:pt x="873217" y="177799"/>
                </a:lnTo>
                <a:lnTo>
                  <a:pt x="866138" y="165099"/>
                </a:lnTo>
                <a:lnTo>
                  <a:pt x="858929" y="165099"/>
                </a:lnTo>
                <a:lnTo>
                  <a:pt x="851589" y="152399"/>
                </a:lnTo>
                <a:lnTo>
                  <a:pt x="1005908" y="152399"/>
                </a:lnTo>
                <a:lnTo>
                  <a:pt x="1013951" y="165099"/>
                </a:lnTo>
                <a:lnTo>
                  <a:pt x="1021721" y="177799"/>
                </a:lnTo>
                <a:lnTo>
                  <a:pt x="1029217" y="190499"/>
                </a:lnTo>
                <a:lnTo>
                  <a:pt x="1036440" y="203199"/>
                </a:lnTo>
                <a:close/>
              </a:path>
              <a:path w="1300479" h="1270000">
                <a:moveTo>
                  <a:pt x="364476" y="685799"/>
                </a:moveTo>
                <a:lnTo>
                  <a:pt x="239153" y="685799"/>
                </a:lnTo>
                <a:lnTo>
                  <a:pt x="233337" y="673099"/>
                </a:lnTo>
                <a:lnTo>
                  <a:pt x="217756" y="634999"/>
                </a:lnTo>
                <a:lnTo>
                  <a:pt x="205037" y="596899"/>
                </a:lnTo>
                <a:lnTo>
                  <a:pt x="195263" y="558799"/>
                </a:lnTo>
                <a:lnTo>
                  <a:pt x="188502" y="520699"/>
                </a:lnTo>
                <a:lnTo>
                  <a:pt x="184800" y="482599"/>
                </a:lnTo>
                <a:lnTo>
                  <a:pt x="184042" y="457199"/>
                </a:lnTo>
                <a:lnTo>
                  <a:pt x="184177" y="444499"/>
                </a:lnTo>
                <a:lnTo>
                  <a:pt x="186641" y="406399"/>
                </a:lnTo>
                <a:lnTo>
                  <a:pt x="192175" y="368299"/>
                </a:lnTo>
                <a:lnTo>
                  <a:pt x="200739" y="330199"/>
                </a:lnTo>
                <a:lnTo>
                  <a:pt x="204260" y="330199"/>
                </a:lnTo>
                <a:lnTo>
                  <a:pt x="208107" y="317499"/>
                </a:lnTo>
                <a:lnTo>
                  <a:pt x="221592" y="279399"/>
                </a:lnTo>
                <a:lnTo>
                  <a:pt x="237913" y="241299"/>
                </a:lnTo>
                <a:lnTo>
                  <a:pt x="256961" y="203199"/>
                </a:lnTo>
                <a:lnTo>
                  <a:pt x="393811" y="203199"/>
                </a:lnTo>
                <a:lnTo>
                  <a:pt x="387595" y="215899"/>
                </a:lnTo>
                <a:lnTo>
                  <a:pt x="381541" y="215899"/>
                </a:lnTo>
                <a:lnTo>
                  <a:pt x="375649" y="228599"/>
                </a:lnTo>
                <a:lnTo>
                  <a:pt x="369918" y="228599"/>
                </a:lnTo>
                <a:lnTo>
                  <a:pt x="364357" y="241299"/>
                </a:lnTo>
                <a:lnTo>
                  <a:pt x="358970" y="241299"/>
                </a:lnTo>
                <a:lnTo>
                  <a:pt x="353760" y="253999"/>
                </a:lnTo>
                <a:lnTo>
                  <a:pt x="348724" y="253999"/>
                </a:lnTo>
                <a:lnTo>
                  <a:pt x="343870" y="266699"/>
                </a:lnTo>
                <a:lnTo>
                  <a:pt x="339204" y="279399"/>
                </a:lnTo>
                <a:lnTo>
                  <a:pt x="334725" y="279399"/>
                </a:lnTo>
                <a:lnTo>
                  <a:pt x="330433" y="292099"/>
                </a:lnTo>
                <a:lnTo>
                  <a:pt x="326334" y="292099"/>
                </a:lnTo>
                <a:lnTo>
                  <a:pt x="322432" y="304799"/>
                </a:lnTo>
                <a:lnTo>
                  <a:pt x="318728" y="317499"/>
                </a:lnTo>
                <a:lnTo>
                  <a:pt x="315222" y="317499"/>
                </a:lnTo>
                <a:lnTo>
                  <a:pt x="311917" y="330199"/>
                </a:lnTo>
                <a:lnTo>
                  <a:pt x="308817" y="342899"/>
                </a:lnTo>
                <a:lnTo>
                  <a:pt x="305923" y="342899"/>
                </a:lnTo>
                <a:lnTo>
                  <a:pt x="303236" y="355599"/>
                </a:lnTo>
                <a:lnTo>
                  <a:pt x="300756" y="368299"/>
                </a:lnTo>
                <a:lnTo>
                  <a:pt x="298489" y="368299"/>
                </a:lnTo>
                <a:lnTo>
                  <a:pt x="296434" y="380999"/>
                </a:lnTo>
                <a:lnTo>
                  <a:pt x="294591" y="393699"/>
                </a:lnTo>
                <a:lnTo>
                  <a:pt x="292961" y="393699"/>
                </a:lnTo>
                <a:lnTo>
                  <a:pt x="291548" y="406399"/>
                </a:lnTo>
                <a:lnTo>
                  <a:pt x="290351" y="419099"/>
                </a:lnTo>
                <a:lnTo>
                  <a:pt x="289370" y="419099"/>
                </a:lnTo>
                <a:lnTo>
                  <a:pt x="288606" y="431799"/>
                </a:lnTo>
                <a:lnTo>
                  <a:pt x="288061" y="444499"/>
                </a:lnTo>
                <a:lnTo>
                  <a:pt x="287624" y="457199"/>
                </a:lnTo>
                <a:lnTo>
                  <a:pt x="287743" y="469899"/>
                </a:lnTo>
                <a:lnTo>
                  <a:pt x="288079" y="482599"/>
                </a:lnTo>
                <a:lnTo>
                  <a:pt x="288633" y="482599"/>
                </a:lnTo>
                <a:lnTo>
                  <a:pt x="289405" y="495299"/>
                </a:lnTo>
                <a:lnTo>
                  <a:pt x="290394" y="507999"/>
                </a:lnTo>
                <a:lnTo>
                  <a:pt x="291599" y="507999"/>
                </a:lnTo>
                <a:lnTo>
                  <a:pt x="293019" y="520699"/>
                </a:lnTo>
                <a:lnTo>
                  <a:pt x="294655" y="533399"/>
                </a:lnTo>
                <a:lnTo>
                  <a:pt x="296505" y="533399"/>
                </a:lnTo>
                <a:lnTo>
                  <a:pt x="298566" y="546099"/>
                </a:lnTo>
                <a:lnTo>
                  <a:pt x="300838" y="558799"/>
                </a:lnTo>
                <a:lnTo>
                  <a:pt x="303323" y="571499"/>
                </a:lnTo>
                <a:lnTo>
                  <a:pt x="306015" y="571499"/>
                </a:lnTo>
                <a:lnTo>
                  <a:pt x="308913" y="584199"/>
                </a:lnTo>
                <a:lnTo>
                  <a:pt x="312017" y="584199"/>
                </a:lnTo>
                <a:lnTo>
                  <a:pt x="315325" y="596899"/>
                </a:lnTo>
                <a:lnTo>
                  <a:pt x="318835" y="609599"/>
                </a:lnTo>
                <a:lnTo>
                  <a:pt x="322542" y="609599"/>
                </a:lnTo>
                <a:lnTo>
                  <a:pt x="326446" y="622299"/>
                </a:lnTo>
                <a:lnTo>
                  <a:pt x="330548" y="634999"/>
                </a:lnTo>
                <a:lnTo>
                  <a:pt x="334841" y="634999"/>
                </a:lnTo>
                <a:lnTo>
                  <a:pt x="339322" y="647699"/>
                </a:lnTo>
                <a:lnTo>
                  <a:pt x="343989" y="647699"/>
                </a:lnTo>
                <a:lnTo>
                  <a:pt x="348844" y="660399"/>
                </a:lnTo>
                <a:lnTo>
                  <a:pt x="353879" y="673099"/>
                </a:lnTo>
                <a:lnTo>
                  <a:pt x="359090" y="673099"/>
                </a:lnTo>
                <a:lnTo>
                  <a:pt x="364476" y="685799"/>
                </a:lnTo>
                <a:close/>
              </a:path>
              <a:path w="1300479" h="1270000">
                <a:moveTo>
                  <a:pt x="1061187" y="685799"/>
                </a:moveTo>
                <a:lnTo>
                  <a:pt x="935983" y="685799"/>
                </a:lnTo>
                <a:lnTo>
                  <a:pt x="941369" y="673099"/>
                </a:lnTo>
                <a:lnTo>
                  <a:pt x="946580" y="673099"/>
                </a:lnTo>
                <a:lnTo>
                  <a:pt x="951615" y="660399"/>
                </a:lnTo>
                <a:lnTo>
                  <a:pt x="956469" y="647699"/>
                </a:lnTo>
                <a:lnTo>
                  <a:pt x="961135" y="647699"/>
                </a:lnTo>
                <a:lnTo>
                  <a:pt x="965614" y="634999"/>
                </a:lnTo>
                <a:lnTo>
                  <a:pt x="969906" y="634999"/>
                </a:lnTo>
                <a:lnTo>
                  <a:pt x="974005" y="622299"/>
                </a:lnTo>
                <a:lnTo>
                  <a:pt x="977907" y="609599"/>
                </a:lnTo>
                <a:lnTo>
                  <a:pt x="981611" y="609599"/>
                </a:lnTo>
                <a:lnTo>
                  <a:pt x="985118" y="596899"/>
                </a:lnTo>
                <a:lnTo>
                  <a:pt x="988423" y="584199"/>
                </a:lnTo>
                <a:lnTo>
                  <a:pt x="991522" y="584199"/>
                </a:lnTo>
                <a:lnTo>
                  <a:pt x="994416" y="571499"/>
                </a:lnTo>
                <a:lnTo>
                  <a:pt x="997104" y="571499"/>
                </a:lnTo>
                <a:lnTo>
                  <a:pt x="999583" y="558799"/>
                </a:lnTo>
                <a:lnTo>
                  <a:pt x="1001850" y="546099"/>
                </a:lnTo>
                <a:lnTo>
                  <a:pt x="1003905" y="533399"/>
                </a:lnTo>
                <a:lnTo>
                  <a:pt x="1005749" y="533399"/>
                </a:lnTo>
                <a:lnTo>
                  <a:pt x="1007378" y="520699"/>
                </a:lnTo>
                <a:lnTo>
                  <a:pt x="1008791" y="507999"/>
                </a:lnTo>
                <a:lnTo>
                  <a:pt x="1009988" y="507999"/>
                </a:lnTo>
                <a:lnTo>
                  <a:pt x="1010969" y="495299"/>
                </a:lnTo>
                <a:lnTo>
                  <a:pt x="1011733" y="482599"/>
                </a:lnTo>
                <a:lnTo>
                  <a:pt x="1012279" y="482599"/>
                </a:lnTo>
                <a:lnTo>
                  <a:pt x="1012606" y="469899"/>
                </a:lnTo>
                <a:lnTo>
                  <a:pt x="1012606" y="457199"/>
                </a:lnTo>
                <a:lnTo>
                  <a:pt x="1012279" y="444499"/>
                </a:lnTo>
                <a:lnTo>
                  <a:pt x="1011733" y="431799"/>
                </a:lnTo>
                <a:lnTo>
                  <a:pt x="1010969" y="419099"/>
                </a:lnTo>
                <a:lnTo>
                  <a:pt x="1009988" y="419099"/>
                </a:lnTo>
                <a:lnTo>
                  <a:pt x="1008791" y="406399"/>
                </a:lnTo>
                <a:lnTo>
                  <a:pt x="1007378" y="393699"/>
                </a:lnTo>
                <a:lnTo>
                  <a:pt x="1005749" y="393699"/>
                </a:lnTo>
                <a:lnTo>
                  <a:pt x="1003905" y="380999"/>
                </a:lnTo>
                <a:lnTo>
                  <a:pt x="1001850" y="368299"/>
                </a:lnTo>
                <a:lnTo>
                  <a:pt x="999583" y="368299"/>
                </a:lnTo>
                <a:lnTo>
                  <a:pt x="997104" y="355599"/>
                </a:lnTo>
                <a:lnTo>
                  <a:pt x="994416" y="342899"/>
                </a:lnTo>
                <a:lnTo>
                  <a:pt x="991522" y="342899"/>
                </a:lnTo>
                <a:lnTo>
                  <a:pt x="988423" y="330199"/>
                </a:lnTo>
                <a:lnTo>
                  <a:pt x="985118" y="317499"/>
                </a:lnTo>
                <a:lnTo>
                  <a:pt x="981611" y="317499"/>
                </a:lnTo>
                <a:lnTo>
                  <a:pt x="977907" y="304799"/>
                </a:lnTo>
                <a:lnTo>
                  <a:pt x="974005" y="292099"/>
                </a:lnTo>
                <a:lnTo>
                  <a:pt x="969906" y="292099"/>
                </a:lnTo>
                <a:lnTo>
                  <a:pt x="965614" y="279399"/>
                </a:lnTo>
                <a:lnTo>
                  <a:pt x="961135" y="279399"/>
                </a:lnTo>
                <a:lnTo>
                  <a:pt x="956469" y="266699"/>
                </a:lnTo>
                <a:lnTo>
                  <a:pt x="951615" y="253999"/>
                </a:lnTo>
                <a:lnTo>
                  <a:pt x="946580" y="253999"/>
                </a:lnTo>
                <a:lnTo>
                  <a:pt x="941369" y="241299"/>
                </a:lnTo>
                <a:lnTo>
                  <a:pt x="935983" y="241299"/>
                </a:lnTo>
                <a:lnTo>
                  <a:pt x="930421" y="228599"/>
                </a:lnTo>
                <a:lnTo>
                  <a:pt x="924691" y="228599"/>
                </a:lnTo>
                <a:lnTo>
                  <a:pt x="918798" y="215899"/>
                </a:lnTo>
                <a:lnTo>
                  <a:pt x="912744" y="215899"/>
                </a:lnTo>
                <a:lnTo>
                  <a:pt x="906528" y="203199"/>
                </a:lnTo>
                <a:lnTo>
                  <a:pt x="1043378" y="203199"/>
                </a:lnTo>
                <a:lnTo>
                  <a:pt x="1062427" y="241299"/>
                </a:lnTo>
                <a:lnTo>
                  <a:pt x="1078747" y="279399"/>
                </a:lnTo>
                <a:lnTo>
                  <a:pt x="1092233" y="317499"/>
                </a:lnTo>
                <a:lnTo>
                  <a:pt x="1096079" y="330199"/>
                </a:lnTo>
                <a:lnTo>
                  <a:pt x="1099600" y="330199"/>
                </a:lnTo>
                <a:lnTo>
                  <a:pt x="1108165" y="368299"/>
                </a:lnTo>
                <a:lnTo>
                  <a:pt x="1113699" y="406399"/>
                </a:lnTo>
                <a:lnTo>
                  <a:pt x="1116162" y="444499"/>
                </a:lnTo>
                <a:lnTo>
                  <a:pt x="1116298" y="457199"/>
                </a:lnTo>
                <a:lnTo>
                  <a:pt x="1116090" y="469899"/>
                </a:lnTo>
                <a:lnTo>
                  <a:pt x="1113412" y="507999"/>
                </a:lnTo>
                <a:lnTo>
                  <a:pt x="1107666" y="546099"/>
                </a:lnTo>
                <a:lnTo>
                  <a:pt x="1098892" y="584199"/>
                </a:lnTo>
                <a:lnTo>
                  <a:pt x="1087148" y="622299"/>
                </a:lnTo>
                <a:lnTo>
                  <a:pt x="1072507" y="660399"/>
                </a:lnTo>
                <a:lnTo>
                  <a:pt x="1067003" y="673099"/>
                </a:lnTo>
                <a:lnTo>
                  <a:pt x="1061187" y="685799"/>
                </a:lnTo>
                <a:close/>
              </a:path>
              <a:path w="1300479" h="1270000">
                <a:moveTo>
                  <a:pt x="427224" y="749299"/>
                </a:moveTo>
                <a:lnTo>
                  <a:pt x="280220" y="749299"/>
                </a:lnTo>
                <a:lnTo>
                  <a:pt x="272667" y="736599"/>
                </a:lnTo>
                <a:lnTo>
                  <a:pt x="265385" y="723899"/>
                </a:lnTo>
                <a:lnTo>
                  <a:pt x="258387" y="711199"/>
                </a:lnTo>
                <a:lnTo>
                  <a:pt x="251682" y="698499"/>
                </a:lnTo>
                <a:lnTo>
                  <a:pt x="245270" y="685799"/>
                </a:lnTo>
                <a:lnTo>
                  <a:pt x="370037" y="685799"/>
                </a:lnTo>
                <a:lnTo>
                  <a:pt x="375767" y="698499"/>
                </a:lnTo>
                <a:lnTo>
                  <a:pt x="381658" y="698499"/>
                </a:lnTo>
                <a:lnTo>
                  <a:pt x="387711" y="711199"/>
                </a:lnTo>
                <a:lnTo>
                  <a:pt x="393925" y="711199"/>
                </a:lnTo>
                <a:lnTo>
                  <a:pt x="400294" y="723899"/>
                </a:lnTo>
                <a:lnTo>
                  <a:pt x="406808" y="723899"/>
                </a:lnTo>
                <a:lnTo>
                  <a:pt x="413470" y="736599"/>
                </a:lnTo>
                <a:lnTo>
                  <a:pt x="420278" y="736599"/>
                </a:lnTo>
                <a:lnTo>
                  <a:pt x="427224" y="749299"/>
                </a:lnTo>
                <a:close/>
              </a:path>
              <a:path w="1300479" h="1270000">
                <a:moveTo>
                  <a:pt x="1020119" y="749299"/>
                </a:moveTo>
                <a:lnTo>
                  <a:pt x="873217" y="749299"/>
                </a:lnTo>
                <a:lnTo>
                  <a:pt x="880166" y="736599"/>
                </a:lnTo>
                <a:lnTo>
                  <a:pt x="886977" y="736599"/>
                </a:lnTo>
                <a:lnTo>
                  <a:pt x="893640" y="723899"/>
                </a:lnTo>
                <a:lnTo>
                  <a:pt x="900158" y="723899"/>
                </a:lnTo>
                <a:lnTo>
                  <a:pt x="906528" y="711199"/>
                </a:lnTo>
                <a:lnTo>
                  <a:pt x="912744" y="711199"/>
                </a:lnTo>
                <a:lnTo>
                  <a:pt x="918798" y="698499"/>
                </a:lnTo>
                <a:lnTo>
                  <a:pt x="924691" y="698499"/>
                </a:lnTo>
                <a:lnTo>
                  <a:pt x="930421" y="685799"/>
                </a:lnTo>
                <a:lnTo>
                  <a:pt x="1055069" y="685799"/>
                </a:lnTo>
                <a:lnTo>
                  <a:pt x="1048658" y="698499"/>
                </a:lnTo>
                <a:lnTo>
                  <a:pt x="1041953" y="711199"/>
                </a:lnTo>
                <a:lnTo>
                  <a:pt x="1034954" y="723899"/>
                </a:lnTo>
                <a:lnTo>
                  <a:pt x="1027673" y="736599"/>
                </a:lnTo>
                <a:lnTo>
                  <a:pt x="1020119" y="749299"/>
                </a:lnTo>
                <a:close/>
              </a:path>
              <a:path w="1300479" h="1270000">
                <a:moveTo>
                  <a:pt x="487240" y="787399"/>
                </a:moveTo>
                <a:lnTo>
                  <a:pt x="313112" y="787399"/>
                </a:lnTo>
                <a:lnTo>
                  <a:pt x="304504" y="774699"/>
                </a:lnTo>
                <a:lnTo>
                  <a:pt x="296145" y="761999"/>
                </a:lnTo>
                <a:lnTo>
                  <a:pt x="288047" y="749299"/>
                </a:lnTo>
                <a:lnTo>
                  <a:pt x="434300" y="749299"/>
                </a:lnTo>
                <a:lnTo>
                  <a:pt x="441506" y="761999"/>
                </a:lnTo>
                <a:lnTo>
                  <a:pt x="456299" y="761999"/>
                </a:lnTo>
                <a:lnTo>
                  <a:pt x="463869" y="774699"/>
                </a:lnTo>
                <a:lnTo>
                  <a:pt x="479344" y="774699"/>
                </a:lnTo>
                <a:lnTo>
                  <a:pt x="487240" y="787399"/>
                </a:lnTo>
                <a:close/>
              </a:path>
              <a:path w="1300479" h="1270000">
                <a:moveTo>
                  <a:pt x="987228" y="787399"/>
                </a:moveTo>
                <a:lnTo>
                  <a:pt x="813172" y="787399"/>
                </a:lnTo>
                <a:lnTo>
                  <a:pt x="821072" y="774699"/>
                </a:lnTo>
                <a:lnTo>
                  <a:pt x="836555" y="774699"/>
                </a:lnTo>
                <a:lnTo>
                  <a:pt x="844128" y="761999"/>
                </a:lnTo>
                <a:lnTo>
                  <a:pt x="858929" y="761999"/>
                </a:lnTo>
                <a:lnTo>
                  <a:pt x="866138" y="749299"/>
                </a:lnTo>
                <a:lnTo>
                  <a:pt x="1012293" y="749299"/>
                </a:lnTo>
                <a:lnTo>
                  <a:pt x="1004194" y="761999"/>
                </a:lnTo>
                <a:lnTo>
                  <a:pt x="995835" y="774699"/>
                </a:lnTo>
                <a:lnTo>
                  <a:pt x="987228" y="787399"/>
                </a:lnTo>
                <a:close/>
              </a:path>
              <a:path w="1300479" h="1270000">
                <a:moveTo>
                  <a:pt x="544972" y="812799"/>
                </a:moveTo>
                <a:lnTo>
                  <a:pt x="340410" y="812799"/>
                </a:lnTo>
                <a:lnTo>
                  <a:pt x="331071" y="800099"/>
                </a:lnTo>
                <a:lnTo>
                  <a:pt x="321967" y="787399"/>
                </a:lnTo>
                <a:lnTo>
                  <a:pt x="503313" y="787399"/>
                </a:lnTo>
                <a:lnTo>
                  <a:pt x="511490" y="800099"/>
                </a:lnTo>
                <a:lnTo>
                  <a:pt x="536491" y="800099"/>
                </a:lnTo>
                <a:lnTo>
                  <a:pt x="544972" y="812799"/>
                </a:lnTo>
                <a:close/>
              </a:path>
              <a:path w="1300479" h="1270000">
                <a:moveTo>
                  <a:pt x="959930" y="812799"/>
                </a:moveTo>
                <a:lnTo>
                  <a:pt x="755411" y="812799"/>
                </a:lnTo>
                <a:lnTo>
                  <a:pt x="763896" y="800099"/>
                </a:lnTo>
                <a:lnTo>
                  <a:pt x="788910" y="800099"/>
                </a:lnTo>
                <a:lnTo>
                  <a:pt x="797091" y="787399"/>
                </a:lnTo>
                <a:lnTo>
                  <a:pt x="978372" y="787399"/>
                </a:lnTo>
                <a:lnTo>
                  <a:pt x="969268" y="800099"/>
                </a:lnTo>
                <a:lnTo>
                  <a:pt x="959930" y="812799"/>
                </a:lnTo>
                <a:close/>
              </a:path>
              <a:path w="1300479" h="1270000">
                <a:moveTo>
                  <a:pt x="930588" y="838199"/>
                </a:moveTo>
                <a:lnTo>
                  <a:pt x="369752" y="838199"/>
                </a:lnTo>
                <a:lnTo>
                  <a:pt x="359750" y="825499"/>
                </a:lnTo>
                <a:lnTo>
                  <a:pt x="349969" y="812799"/>
                </a:lnTo>
                <a:lnTo>
                  <a:pt x="596993" y="812799"/>
                </a:lnTo>
                <a:lnTo>
                  <a:pt x="605803" y="825499"/>
                </a:lnTo>
                <a:lnTo>
                  <a:pt x="940590" y="825499"/>
                </a:lnTo>
                <a:lnTo>
                  <a:pt x="930588" y="838199"/>
                </a:lnTo>
                <a:close/>
              </a:path>
              <a:path w="1300479" h="1270000">
                <a:moveTo>
                  <a:pt x="940590" y="825499"/>
                </a:moveTo>
                <a:lnTo>
                  <a:pt x="694552" y="825499"/>
                </a:lnTo>
                <a:lnTo>
                  <a:pt x="703366" y="812799"/>
                </a:lnTo>
                <a:lnTo>
                  <a:pt x="950370" y="812799"/>
                </a:lnTo>
                <a:lnTo>
                  <a:pt x="940590" y="825499"/>
                </a:lnTo>
                <a:close/>
              </a:path>
              <a:path w="1300479" h="1270000">
                <a:moveTo>
                  <a:pt x="909981" y="850899"/>
                </a:moveTo>
                <a:lnTo>
                  <a:pt x="390359" y="850899"/>
                </a:lnTo>
                <a:lnTo>
                  <a:pt x="379960" y="838199"/>
                </a:lnTo>
                <a:lnTo>
                  <a:pt x="920380" y="838199"/>
                </a:lnTo>
                <a:lnTo>
                  <a:pt x="909981" y="850899"/>
                </a:lnTo>
                <a:close/>
              </a:path>
              <a:path w="1300479" h="1270000">
                <a:moveTo>
                  <a:pt x="71878" y="1269999"/>
                </a:moveTo>
                <a:lnTo>
                  <a:pt x="71037" y="1269999"/>
                </a:lnTo>
                <a:lnTo>
                  <a:pt x="63875" y="1257299"/>
                </a:lnTo>
                <a:lnTo>
                  <a:pt x="49687" y="1244599"/>
                </a:lnTo>
                <a:lnTo>
                  <a:pt x="35867" y="1231899"/>
                </a:lnTo>
                <a:lnTo>
                  <a:pt x="22418" y="1219199"/>
                </a:lnTo>
                <a:lnTo>
                  <a:pt x="9338" y="1206499"/>
                </a:lnTo>
                <a:lnTo>
                  <a:pt x="0" y="1181099"/>
                </a:lnTo>
                <a:lnTo>
                  <a:pt x="12056" y="1168399"/>
                </a:lnTo>
                <a:lnTo>
                  <a:pt x="42767" y="1117599"/>
                </a:lnTo>
                <a:lnTo>
                  <a:pt x="75872" y="1079499"/>
                </a:lnTo>
                <a:lnTo>
                  <a:pt x="111244" y="1041399"/>
                </a:lnTo>
                <a:lnTo>
                  <a:pt x="148756" y="1015999"/>
                </a:lnTo>
                <a:lnTo>
                  <a:pt x="188284" y="977899"/>
                </a:lnTo>
                <a:lnTo>
                  <a:pt x="229700" y="952499"/>
                </a:lnTo>
                <a:lnTo>
                  <a:pt x="272879" y="927099"/>
                </a:lnTo>
                <a:lnTo>
                  <a:pt x="317695" y="901699"/>
                </a:lnTo>
                <a:lnTo>
                  <a:pt x="364021" y="876299"/>
                </a:lnTo>
                <a:lnTo>
                  <a:pt x="411731" y="863599"/>
                </a:lnTo>
                <a:lnTo>
                  <a:pt x="400949" y="850899"/>
                </a:lnTo>
                <a:lnTo>
                  <a:pt x="899390" y="850899"/>
                </a:lnTo>
                <a:lnTo>
                  <a:pt x="888608" y="863599"/>
                </a:lnTo>
                <a:lnTo>
                  <a:pt x="936319" y="876299"/>
                </a:lnTo>
                <a:lnTo>
                  <a:pt x="982645" y="901699"/>
                </a:lnTo>
                <a:lnTo>
                  <a:pt x="1027461" y="927099"/>
                </a:lnTo>
                <a:lnTo>
                  <a:pt x="599322" y="927099"/>
                </a:lnTo>
                <a:lnTo>
                  <a:pt x="549348" y="939799"/>
                </a:lnTo>
                <a:lnTo>
                  <a:pt x="500399" y="939799"/>
                </a:lnTo>
                <a:lnTo>
                  <a:pt x="452630" y="952499"/>
                </a:lnTo>
                <a:lnTo>
                  <a:pt x="406193" y="977899"/>
                </a:lnTo>
                <a:lnTo>
                  <a:pt x="361242" y="990599"/>
                </a:lnTo>
                <a:lnTo>
                  <a:pt x="317931" y="1015999"/>
                </a:lnTo>
                <a:lnTo>
                  <a:pt x="276412" y="1041399"/>
                </a:lnTo>
                <a:lnTo>
                  <a:pt x="236839" y="1066799"/>
                </a:lnTo>
                <a:lnTo>
                  <a:pt x="199365" y="1104899"/>
                </a:lnTo>
                <a:lnTo>
                  <a:pt x="164144" y="1142999"/>
                </a:lnTo>
                <a:lnTo>
                  <a:pt x="131329" y="1181099"/>
                </a:lnTo>
                <a:lnTo>
                  <a:pt x="101072" y="1219199"/>
                </a:lnTo>
                <a:lnTo>
                  <a:pt x="73529" y="1257299"/>
                </a:lnTo>
                <a:lnTo>
                  <a:pt x="71878" y="1269999"/>
                </a:lnTo>
                <a:close/>
              </a:path>
              <a:path w="1300479" h="1270000">
                <a:moveTo>
                  <a:pt x="1229302" y="1269999"/>
                </a:moveTo>
                <a:lnTo>
                  <a:pt x="1228461" y="1269999"/>
                </a:lnTo>
                <a:lnTo>
                  <a:pt x="1226811" y="1257299"/>
                </a:lnTo>
                <a:lnTo>
                  <a:pt x="1199267" y="1219199"/>
                </a:lnTo>
                <a:lnTo>
                  <a:pt x="1169011" y="1181099"/>
                </a:lnTo>
                <a:lnTo>
                  <a:pt x="1136195" y="1142999"/>
                </a:lnTo>
                <a:lnTo>
                  <a:pt x="1100974" y="1104899"/>
                </a:lnTo>
                <a:lnTo>
                  <a:pt x="1063500" y="1066799"/>
                </a:lnTo>
                <a:lnTo>
                  <a:pt x="1023927" y="1041399"/>
                </a:lnTo>
                <a:lnTo>
                  <a:pt x="982409" y="1015999"/>
                </a:lnTo>
                <a:lnTo>
                  <a:pt x="939097" y="990599"/>
                </a:lnTo>
                <a:lnTo>
                  <a:pt x="894146" y="977899"/>
                </a:lnTo>
                <a:lnTo>
                  <a:pt x="847710" y="952499"/>
                </a:lnTo>
                <a:lnTo>
                  <a:pt x="799940" y="939799"/>
                </a:lnTo>
                <a:lnTo>
                  <a:pt x="750992" y="939799"/>
                </a:lnTo>
                <a:lnTo>
                  <a:pt x="701017" y="927099"/>
                </a:lnTo>
                <a:lnTo>
                  <a:pt x="1027461" y="927099"/>
                </a:lnTo>
                <a:lnTo>
                  <a:pt x="1070640" y="952499"/>
                </a:lnTo>
                <a:lnTo>
                  <a:pt x="1112056" y="977899"/>
                </a:lnTo>
                <a:lnTo>
                  <a:pt x="1151583" y="1015999"/>
                </a:lnTo>
                <a:lnTo>
                  <a:pt x="1189096" y="1041399"/>
                </a:lnTo>
                <a:lnTo>
                  <a:pt x="1224468" y="1079499"/>
                </a:lnTo>
                <a:lnTo>
                  <a:pt x="1257572" y="1117599"/>
                </a:lnTo>
                <a:lnTo>
                  <a:pt x="1288284" y="1168399"/>
                </a:lnTo>
                <a:lnTo>
                  <a:pt x="1300337" y="1181099"/>
                </a:lnTo>
                <a:lnTo>
                  <a:pt x="1277921" y="1219199"/>
                </a:lnTo>
                <a:lnTo>
                  <a:pt x="1236464" y="1257299"/>
                </a:lnTo>
                <a:lnTo>
                  <a:pt x="1229302" y="1269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25548" y="3043723"/>
            <a:ext cx="1403350" cy="1358900"/>
          </a:xfrm>
          <a:custGeom>
            <a:avLst/>
            <a:gdLst/>
            <a:ahLst/>
            <a:cxnLst/>
            <a:rect l="l" t="t" r="r" b="b"/>
            <a:pathLst>
              <a:path w="1403350" h="1358900">
                <a:moveTo>
                  <a:pt x="822786" y="12699"/>
                </a:moveTo>
                <a:lnTo>
                  <a:pt x="580549" y="12699"/>
                </a:lnTo>
                <a:lnTo>
                  <a:pt x="593785" y="0"/>
                </a:lnTo>
                <a:lnTo>
                  <a:pt x="809549" y="0"/>
                </a:lnTo>
                <a:lnTo>
                  <a:pt x="822786" y="12699"/>
                </a:lnTo>
                <a:close/>
              </a:path>
              <a:path w="1403350" h="1358900">
                <a:moveTo>
                  <a:pt x="861901" y="25399"/>
                </a:moveTo>
                <a:lnTo>
                  <a:pt x="541433" y="25399"/>
                </a:lnTo>
                <a:lnTo>
                  <a:pt x="554373" y="12699"/>
                </a:lnTo>
                <a:lnTo>
                  <a:pt x="848962" y="12699"/>
                </a:lnTo>
                <a:lnTo>
                  <a:pt x="861901" y="25399"/>
                </a:lnTo>
                <a:close/>
              </a:path>
              <a:path w="1403350" h="1358900">
                <a:moveTo>
                  <a:pt x="899957" y="38099"/>
                </a:moveTo>
                <a:lnTo>
                  <a:pt x="503378" y="38099"/>
                </a:lnTo>
                <a:lnTo>
                  <a:pt x="515926" y="25399"/>
                </a:lnTo>
                <a:lnTo>
                  <a:pt x="887409" y="25399"/>
                </a:lnTo>
                <a:lnTo>
                  <a:pt x="899957" y="38099"/>
                </a:lnTo>
                <a:close/>
              </a:path>
              <a:path w="1403350" h="1358900">
                <a:moveTo>
                  <a:pt x="924625" y="50799"/>
                </a:moveTo>
                <a:lnTo>
                  <a:pt x="478709" y="50799"/>
                </a:lnTo>
                <a:lnTo>
                  <a:pt x="490966" y="38099"/>
                </a:lnTo>
                <a:lnTo>
                  <a:pt x="912368" y="38099"/>
                </a:lnTo>
                <a:lnTo>
                  <a:pt x="924625" y="50799"/>
                </a:lnTo>
                <a:close/>
              </a:path>
              <a:path w="1403350" h="1358900">
                <a:moveTo>
                  <a:pt x="948619" y="63499"/>
                </a:moveTo>
                <a:lnTo>
                  <a:pt x="454716" y="63499"/>
                </a:lnTo>
                <a:lnTo>
                  <a:pt x="466626" y="50799"/>
                </a:lnTo>
                <a:lnTo>
                  <a:pt x="936708" y="50799"/>
                </a:lnTo>
                <a:lnTo>
                  <a:pt x="948619" y="63499"/>
                </a:lnTo>
                <a:close/>
              </a:path>
              <a:path w="1403350" h="1358900">
                <a:moveTo>
                  <a:pt x="971903" y="76199"/>
                </a:moveTo>
                <a:lnTo>
                  <a:pt x="431431" y="76199"/>
                </a:lnTo>
                <a:lnTo>
                  <a:pt x="442978" y="63499"/>
                </a:lnTo>
                <a:lnTo>
                  <a:pt x="960356" y="63499"/>
                </a:lnTo>
                <a:lnTo>
                  <a:pt x="971903" y="76199"/>
                </a:lnTo>
                <a:close/>
              </a:path>
              <a:path w="1403350" h="1358900">
                <a:moveTo>
                  <a:pt x="1005300" y="101599"/>
                </a:moveTo>
                <a:lnTo>
                  <a:pt x="398034" y="101599"/>
                </a:lnTo>
                <a:lnTo>
                  <a:pt x="408959" y="88899"/>
                </a:lnTo>
                <a:lnTo>
                  <a:pt x="420092" y="76199"/>
                </a:lnTo>
                <a:lnTo>
                  <a:pt x="983243" y="76199"/>
                </a:lnTo>
                <a:lnTo>
                  <a:pt x="994375" y="88899"/>
                </a:lnTo>
                <a:lnTo>
                  <a:pt x="1005300" y="101599"/>
                </a:lnTo>
                <a:close/>
              </a:path>
              <a:path w="1403350" h="1358900">
                <a:moveTo>
                  <a:pt x="588563" y="126999"/>
                </a:moveTo>
                <a:lnTo>
                  <a:pt x="366647" y="126999"/>
                </a:lnTo>
                <a:lnTo>
                  <a:pt x="376870" y="114299"/>
                </a:lnTo>
                <a:lnTo>
                  <a:pt x="387333" y="101599"/>
                </a:lnTo>
                <a:lnTo>
                  <a:pt x="663477" y="101599"/>
                </a:lnTo>
                <a:lnTo>
                  <a:pt x="653969" y="114299"/>
                </a:lnTo>
                <a:lnTo>
                  <a:pt x="597750" y="114299"/>
                </a:lnTo>
                <a:lnTo>
                  <a:pt x="588563" y="126999"/>
                </a:lnTo>
                <a:close/>
              </a:path>
              <a:path w="1403350" h="1358900">
                <a:moveTo>
                  <a:pt x="1036687" y="126999"/>
                </a:moveTo>
                <a:lnTo>
                  <a:pt x="814771" y="126999"/>
                </a:lnTo>
                <a:lnTo>
                  <a:pt x="805584" y="114299"/>
                </a:lnTo>
                <a:lnTo>
                  <a:pt x="749365" y="114299"/>
                </a:lnTo>
                <a:lnTo>
                  <a:pt x="739858" y="101599"/>
                </a:lnTo>
                <a:lnTo>
                  <a:pt x="1016002" y="101599"/>
                </a:lnTo>
                <a:lnTo>
                  <a:pt x="1026464" y="114299"/>
                </a:lnTo>
                <a:lnTo>
                  <a:pt x="1036687" y="126999"/>
                </a:lnTo>
                <a:close/>
              </a:path>
              <a:path w="1403350" h="1358900">
                <a:moveTo>
                  <a:pt x="501356" y="165099"/>
                </a:moveTo>
                <a:lnTo>
                  <a:pt x="328277" y="165099"/>
                </a:lnTo>
                <a:lnTo>
                  <a:pt x="337471" y="152399"/>
                </a:lnTo>
                <a:lnTo>
                  <a:pt x="346933" y="139699"/>
                </a:lnTo>
                <a:lnTo>
                  <a:pt x="356663" y="126999"/>
                </a:lnTo>
                <a:lnTo>
                  <a:pt x="561443" y="126999"/>
                </a:lnTo>
                <a:lnTo>
                  <a:pt x="552561" y="139699"/>
                </a:lnTo>
                <a:lnTo>
                  <a:pt x="535078" y="139699"/>
                </a:lnTo>
                <a:lnTo>
                  <a:pt x="526487" y="152399"/>
                </a:lnTo>
                <a:lnTo>
                  <a:pt x="509616" y="152399"/>
                </a:lnTo>
                <a:lnTo>
                  <a:pt x="501356" y="165099"/>
                </a:lnTo>
                <a:close/>
              </a:path>
              <a:path w="1403350" h="1358900">
                <a:moveTo>
                  <a:pt x="1075057" y="165099"/>
                </a:moveTo>
                <a:lnTo>
                  <a:pt x="901978" y="165099"/>
                </a:lnTo>
                <a:lnTo>
                  <a:pt x="893719" y="152399"/>
                </a:lnTo>
                <a:lnTo>
                  <a:pt x="876848" y="152399"/>
                </a:lnTo>
                <a:lnTo>
                  <a:pt x="868256" y="139699"/>
                </a:lnTo>
                <a:lnTo>
                  <a:pt x="850773" y="139699"/>
                </a:lnTo>
                <a:lnTo>
                  <a:pt x="841891" y="126999"/>
                </a:lnTo>
                <a:lnTo>
                  <a:pt x="1046671" y="126999"/>
                </a:lnTo>
                <a:lnTo>
                  <a:pt x="1056402" y="139699"/>
                </a:lnTo>
                <a:lnTo>
                  <a:pt x="1065864" y="152399"/>
                </a:lnTo>
                <a:lnTo>
                  <a:pt x="1075057" y="165099"/>
                </a:lnTo>
                <a:close/>
              </a:path>
              <a:path w="1403350" h="1358900">
                <a:moveTo>
                  <a:pt x="388712" y="266699"/>
                </a:moveTo>
                <a:lnTo>
                  <a:pt x="258609" y="266699"/>
                </a:lnTo>
                <a:lnTo>
                  <a:pt x="265117" y="253999"/>
                </a:lnTo>
                <a:lnTo>
                  <a:pt x="286538" y="215899"/>
                </a:lnTo>
                <a:lnTo>
                  <a:pt x="310707" y="177799"/>
                </a:lnTo>
                <a:lnTo>
                  <a:pt x="319351" y="165099"/>
                </a:lnTo>
                <a:lnTo>
                  <a:pt x="485199" y="165099"/>
                </a:lnTo>
                <a:lnTo>
                  <a:pt x="477311" y="177799"/>
                </a:lnTo>
                <a:lnTo>
                  <a:pt x="469563" y="177799"/>
                </a:lnTo>
                <a:lnTo>
                  <a:pt x="461955" y="190499"/>
                </a:lnTo>
                <a:lnTo>
                  <a:pt x="454487" y="190499"/>
                </a:lnTo>
                <a:lnTo>
                  <a:pt x="447168" y="203199"/>
                </a:lnTo>
                <a:lnTo>
                  <a:pt x="440006" y="203199"/>
                </a:lnTo>
                <a:lnTo>
                  <a:pt x="433002" y="215899"/>
                </a:lnTo>
                <a:lnTo>
                  <a:pt x="426156" y="215899"/>
                </a:lnTo>
                <a:lnTo>
                  <a:pt x="419475" y="228599"/>
                </a:lnTo>
                <a:lnTo>
                  <a:pt x="412969" y="228599"/>
                </a:lnTo>
                <a:lnTo>
                  <a:pt x="406636" y="241299"/>
                </a:lnTo>
                <a:lnTo>
                  <a:pt x="400477" y="241299"/>
                </a:lnTo>
                <a:lnTo>
                  <a:pt x="394500" y="253999"/>
                </a:lnTo>
                <a:lnTo>
                  <a:pt x="388712" y="266699"/>
                </a:lnTo>
                <a:close/>
              </a:path>
              <a:path w="1403350" h="1358900">
                <a:moveTo>
                  <a:pt x="1144725" y="266699"/>
                </a:moveTo>
                <a:lnTo>
                  <a:pt x="1014623" y="266699"/>
                </a:lnTo>
                <a:lnTo>
                  <a:pt x="1008834" y="253999"/>
                </a:lnTo>
                <a:lnTo>
                  <a:pt x="1002857" y="241299"/>
                </a:lnTo>
                <a:lnTo>
                  <a:pt x="996698" y="241299"/>
                </a:lnTo>
                <a:lnTo>
                  <a:pt x="990366" y="228599"/>
                </a:lnTo>
                <a:lnTo>
                  <a:pt x="983859" y="228599"/>
                </a:lnTo>
                <a:lnTo>
                  <a:pt x="977179" y="215899"/>
                </a:lnTo>
                <a:lnTo>
                  <a:pt x="970332" y="215899"/>
                </a:lnTo>
                <a:lnTo>
                  <a:pt x="963328" y="203199"/>
                </a:lnTo>
                <a:lnTo>
                  <a:pt x="956167" y="203199"/>
                </a:lnTo>
                <a:lnTo>
                  <a:pt x="948847" y="190499"/>
                </a:lnTo>
                <a:lnTo>
                  <a:pt x="941379" y="190499"/>
                </a:lnTo>
                <a:lnTo>
                  <a:pt x="933771" y="177799"/>
                </a:lnTo>
                <a:lnTo>
                  <a:pt x="926023" y="177799"/>
                </a:lnTo>
                <a:lnTo>
                  <a:pt x="918135" y="165099"/>
                </a:lnTo>
                <a:lnTo>
                  <a:pt x="1083983" y="165099"/>
                </a:lnTo>
                <a:lnTo>
                  <a:pt x="1092628" y="177799"/>
                </a:lnTo>
                <a:lnTo>
                  <a:pt x="1116796" y="215899"/>
                </a:lnTo>
                <a:lnTo>
                  <a:pt x="1138218" y="253999"/>
                </a:lnTo>
                <a:lnTo>
                  <a:pt x="1144725" y="266699"/>
                </a:lnTo>
                <a:close/>
              </a:path>
              <a:path w="1403350" h="1358900">
                <a:moveTo>
                  <a:pt x="394629" y="736599"/>
                </a:moveTo>
                <a:lnTo>
                  <a:pt x="259942" y="736599"/>
                </a:lnTo>
                <a:lnTo>
                  <a:pt x="253692" y="723899"/>
                </a:lnTo>
                <a:lnTo>
                  <a:pt x="236947" y="685799"/>
                </a:lnTo>
                <a:lnTo>
                  <a:pt x="223278" y="647699"/>
                </a:lnTo>
                <a:lnTo>
                  <a:pt x="212773" y="609599"/>
                </a:lnTo>
                <a:lnTo>
                  <a:pt x="207567" y="571499"/>
                </a:lnTo>
                <a:lnTo>
                  <a:pt x="205507" y="558799"/>
                </a:lnTo>
                <a:lnTo>
                  <a:pt x="201528" y="520699"/>
                </a:lnTo>
                <a:lnTo>
                  <a:pt x="200713" y="495299"/>
                </a:lnTo>
                <a:lnTo>
                  <a:pt x="200859" y="482599"/>
                </a:lnTo>
                <a:lnTo>
                  <a:pt x="203507" y="444499"/>
                </a:lnTo>
                <a:lnTo>
                  <a:pt x="209454" y="406399"/>
                </a:lnTo>
                <a:lnTo>
                  <a:pt x="215230" y="380999"/>
                </a:lnTo>
                <a:lnTo>
                  <a:pt x="218659" y="355599"/>
                </a:lnTo>
                <a:lnTo>
                  <a:pt x="231060" y="317499"/>
                </a:lnTo>
                <a:lnTo>
                  <a:pt x="246581" y="279399"/>
                </a:lnTo>
                <a:lnTo>
                  <a:pt x="252427" y="266699"/>
                </a:lnTo>
                <a:lnTo>
                  <a:pt x="383111" y="266699"/>
                </a:lnTo>
                <a:lnTo>
                  <a:pt x="377700" y="279399"/>
                </a:lnTo>
                <a:lnTo>
                  <a:pt x="372483" y="292099"/>
                </a:lnTo>
                <a:lnTo>
                  <a:pt x="367468" y="292099"/>
                </a:lnTo>
                <a:lnTo>
                  <a:pt x="362655" y="304799"/>
                </a:lnTo>
                <a:lnTo>
                  <a:pt x="358042" y="304799"/>
                </a:lnTo>
                <a:lnTo>
                  <a:pt x="353637" y="317499"/>
                </a:lnTo>
                <a:lnTo>
                  <a:pt x="349444" y="330199"/>
                </a:lnTo>
                <a:lnTo>
                  <a:pt x="345463" y="342899"/>
                </a:lnTo>
                <a:lnTo>
                  <a:pt x="341694" y="342899"/>
                </a:lnTo>
                <a:lnTo>
                  <a:pt x="338142" y="355599"/>
                </a:lnTo>
                <a:lnTo>
                  <a:pt x="334811" y="368299"/>
                </a:lnTo>
                <a:lnTo>
                  <a:pt x="331701" y="368299"/>
                </a:lnTo>
                <a:lnTo>
                  <a:pt x="328813" y="380999"/>
                </a:lnTo>
                <a:lnTo>
                  <a:pt x="326148" y="393699"/>
                </a:lnTo>
                <a:lnTo>
                  <a:pt x="323712" y="406399"/>
                </a:lnTo>
                <a:lnTo>
                  <a:pt x="321503" y="406399"/>
                </a:lnTo>
                <a:lnTo>
                  <a:pt x="319522" y="419099"/>
                </a:lnTo>
                <a:lnTo>
                  <a:pt x="317771" y="431799"/>
                </a:lnTo>
                <a:lnTo>
                  <a:pt x="316252" y="431799"/>
                </a:lnTo>
                <a:lnTo>
                  <a:pt x="314966" y="444499"/>
                </a:lnTo>
                <a:lnTo>
                  <a:pt x="313911" y="457199"/>
                </a:lnTo>
                <a:lnTo>
                  <a:pt x="313091" y="469899"/>
                </a:lnTo>
                <a:lnTo>
                  <a:pt x="312504" y="469899"/>
                </a:lnTo>
                <a:lnTo>
                  <a:pt x="312152" y="482599"/>
                </a:lnTo>
                <a:lnTo>
                  <a:pt x="312035" y="495299"/>
                </a:lnTo>
                <a:lnTo>
                  <a:pt x="312162" y="507999"/>
                </a:lnTo>
                <a:lnTo>
                  <a:pt x="312524" y="507999"/>
                </a:lnTo>
                <a:lnTo>
                  <a:pt x="313119" y="520699"/>
                </a:lnTo>
                <a:lnTo>
                  <a:pt x="313949" y="533399"/>
                </a:lnTo>
                <a:lnTo>
                  <a:pt x="315012" y="546099"/>
                </a:lnTo>
                <a:lnTo>
                  <a:pt x="316306" y="546099"/>
                </a:lnTo>
                <a:lnTo>
                  <a:pt x="317833" y="558799"/>
                </a:lnTo>
                <a:lnTo>
                  <a:pt x="319591" y="571499"/>
                </a:lnTo>
                <a:lnTo>
                  <a:pt x="321579" y="584199"/>
                </a:lnTo>
                <a:lnTo>
                  <a:pt x="323794" y="584199"/>
                </a:lnTo>
                <a:lnTo>
                  <a:pt x="326236" y="596899"/>
                </a:lnTo>
                <a:lnTo>
                  <a:pt x="328906" y="609599"/>
                </a:lnTo>
                <a:lnTo>
                  <a:pt x="331800" y="622299"/>
                </a:lnTo>
                <a:lnTo>
                  <a:pt x="334915" y="622299"/>
                </a:lnTo>
                <a:lnTo>
                  <a:pt x="338250" y="634999"/>
                </a:lnTo>
                <a:lnTo>
                  <a:pt x="341806" y="647699"/>
                </a:lnTo>
                <a:lnTo>
                  <a:pt x="345578" y="647699"/>
                </a:lnTo>
                <a:lnTo>
                  <a:pt x="349562" y="660399"/>
                </a:lnTo>
                <a:lnTo>
                  <a:pt x="353758" y="673099"/>
                </a:lnTo>
                <a:lnTo>
                  <a:pt x="358165" y="673099"/>
                </a:lnTo>
                <a:lnTo>
                  <a:pt x="362779" y="685799"/>
                </a:lnTo>
                <a:lnTo>
                  <a:pt x="367595" y="698499"/>
                </a:lnTo>
                <a:lnTo>
                  <a:pt x="372611" y="698499"/>
                </a:lnTo>
                <a:lnTo>
                  <a:pt x="377828" y="711199"/>
                </a:lnTo>
                <a:lnTo>
                  <a:pt x="383240" y="723899"/>
                </a:lnTo>
                <a:lnTo>
                  <a:pt x="388840" y="723899"/>
                </a:lnTo>
                <a:lnTo>
                  <a:pt x="394629" y="736599"/>
                </a:lnTo>
                <a:close/>
              </a:path>
              <a:path w="1403350" h="1358900">
                <a:moveTo>
                  <a:pt x="1143393" y="736599"/>
                </a:moveTo>
                <a:lnTo>
                  <a:pt x="1008834" y="736599"/>
                </a:lnTo>
                <a:lnTo>
                  <a:pt x="1014623" y="723899"/>
                </a:lnTo>
                <a:lnTo>
                  <a:pt x="1020223" y="723899"/>
                </a:lnTo>
                <a:lnTo>
                  <a:pt x="1025634" y="711199"/>
                </a:lnTo>
                <a:lnTo>
                  <a:pt x="1030851" y="698499"/>
                </a:lnTo>
                <a:lnTo>
                  <a:pt x="1035866" y="698499"/>
                </a:lnTo>
                <a:lnTo>
                  <a:pt x="1040680" y="685799"/>
                </a:lnTo>
                <a:lnTo>
                  <a:pt x="1045292" y="673099"/>
                </a:lnTo>
                <a:lnTo>
                  <a:pt x="1049697" y="673099"/>
                </a:lnTo>
                <a:lnTo>
                  <a:pt x="1053890" y="660399"/>
                </a:lnTo>
                <a:lnTo>
                  <a:pt x="1057871" y="647699"/>
                </a:lnTo>
                <a:lnTo>
                  <a:pt x="1061640" y="647699"/>
                </a:lnTo>
                <a:lnTo>
                  <a:pt x="1065192" y="634999"/>
                </a:lnTo>
                <a:lnTo>
                  <a:pt x="1068523" y="622299"/>
                </a:lnTo>
                <a:lnTo>
                  <a:pt x="1071633" y="622299"/>
                </a:lnTo>
                <a:lnTo>
                  <a:pt x="1074522" y="609599"/>
                </a:lnTo>
                <a:lnTo>
                  <a:pt x="1077186" y="596899"/>
                </a:lnTo>
                <a:lnTo>
                  <a:pt x="1079623" y="584199"/>
                </a:lnTo>
                <a:lnTo>
                  <a:pt x="1081831" y="584199"/>
                </a:lnTo>
                <a:lnTo>
                  <a:pt x="1083812" y="571499"/>
                </a:lnTo>
                <a:lnTo>
                  <a:pt x="1085563" y="558799"/>
                </a:lnTo>
                <a:lnTo>
                  <a:pt x="1087082" y="546099"/>
                </a:lnTo>
                <a:lnTo>
                  <a:pt x="1088369" y="546099"/>
                </a:lnTo>
                <a:lnTo>
                  <a:pt x="1089423" y="533399"/>
                </a:lnTo>
                <a:lnTo>
                  <a:pt x="1090244" y="520699"/>
                </a:lnTo>
                <a:lnTo>
                  <a:pt x="1090830" y="507999"/>
                </a:lnTo>
                <a:lnTo>
                  <a:pt x="1091182" y="507999"/>
                </a:lnTo>
                <a:lnTo>
                  <a:pt x="1091182" y="482599"/>
                </a:lnTo>
                <a:lnTo>
                  <a:pt x="1090830" y="469899"/>
                </a:lnTo>
                <a:lnTo>
                  <a:pt x="1090244" y="469899"/>
                </a:lnTo>
                <a:lnTo>
                  <a:pt x="1089423" y="457199"/>
                </a:lnTo>
                <a:lnTo>
                  <a:pt x="1088369" y="444499"/>
                </a:lnTo>
                <a:lnTo>
                  <a:pt x="1087082" y="431799"/>
                </a:lnTo>
                <a:lnTo>
                  <a:pt x="1085563" y="431799"/>
                </a:lnTo>
                <a:lnTo>
                  <a:pt x="1083812" y="419099"/>
                </a:lnTo>
                <a:lnTo>
                  <a:pt x="1081831" y="406399"/>
                </a:lnTo>
                <a:lnTo>
                  <a:pt x="1079623" y="406399"/>
                </a:lnTo>
                <a:lnTo>
                  <a:pt x="1077186" y="393699"/>
                </a:lnTo>
                <a:lnTo>
                  <a:pt x="1074522" y="380999"/>
                </a:lnTo>
                <a:lnTo>
                  <a:pt x="1071633" y="368299"/>
                </a:lnTo>
                <a:lnTo>
                  <a:pt x="1068523" y="368299"/>
                </a:lnTo>
                <a:lnTo>
                  <a:pt x="1065192" y="355599"/>
                </a:lnTo>
                <a:lnTo>
                  <a:pt x="1061640" y="342899"/>
                </a:lnTo>
                <a:lnTo>
                  <a:pt x="1057871" y="342899"/>
                </a:lnTo>
                <a:lnTo>
                  <a:pt x="1053890" y="330199"/>
                </a:lnTo>
                <a:lnTo>
                  <a:pt x="1049697" y="317499"/>
                </a:lnTo>
                <a:lnTo>
                  <a:pt x="1045292" y="304799"/>
                </a:lnTo>
                <a:lnTo>
                  <a:pt x="1040680" y="304799"/>
                </a:lnTo>
                <a:lnTo>
                  <a:pt x="1035866" y="292099"/>
                </a:lnTo>
                <a:lnTo>
                  <a:pt x="1030851" y="292099"/>
                </a:lnTo>
                <a:lnTo>
                  <a:pt x="1025634" y="279399"/>
                </a:lnTo>
                <a:lnTo>
                  <a:pt x="1020223" y="266699"/>
                </a:lnTo>
                <a:lnTo>
                  <a:pt x="1150907" y="266699"/>
                </a:lnTo>
                <a:lnTo>
                  <a:pt x="1156753" y="279399"/>
                </a:lnTo>
                <a:lnTo>
                  <a:pt x="1172274" y="317499"/>
                </a:lnTo>
                <a:lnTo>
                  <a:pt x="1184676" y="355599"/>
                </a:lnTo>
                <a:lnTo>
                  <a:pt x="1188105" y="380999"/>
                </a:lnTo>
                <a:lnTo>
                  <a:pt x="1191173" y="393699"/>
                </a:lnTo>
                <a:lnTo>
                  <a:pt x="1198211" y="431799"/>
                </a:lnTo>
                <a:lnTo>
                  <a:pt x="1201960" y="469899"/>
                </a:lnTo>
                <a:lnTo>
                  <a:pt x="1202621" y="495299"/>
                </a:lnTo>
                <a:lnTo>
                  <a:pt x="1202398" y="507999"/>
                </a:lnTo>
                <a:lnTo>
                  <a:pt x="1199520" y="546099"/>
                </a:lnTo>
                <a:lnTo>
                  <a:pt x="1195767" y="571499"/>
                </a:lnTo>
                <a:lnTo>
                  <a:pt x="1193344" y="596899"/>
                </a:lnTo>
                <a:lnTo>
                  <a:pt x="1183915" y="634999"/>
                </a:lnTo>
                <a:lnTo>
                  <a:pt x="1171293" y="673099"/>
                </a:lnTo>
                <a:lnTo>
                  <a:pt x="1155559" y="711199"/>
                </a:lnTo>
                <a:lnTo>
                  <a:pt x="1149643" y="723899"/>
                </a:lnTo>
                <a:lnTo>
                  <a:pt x="1143393" y="736599"/>
                </a:lnTo>
                <a:close/>
              </a:path>
              <a:path w="1403350" h="1358900">
                <a:moveTo>
                  <a:pt x="493312" y="825499"/>
                </a:moveTo>
                <a:lnTo>
                  <a:pt x="321193" y="825499"/>
                </a:lnTo>
                <a:lnTo>
                  <a:pt x="312489" y="812799"/>
                </a:lnTo>
                <a:lnTo>
                  <a:pt x="288134" y="774699"/>
                </a:lnTo>
                <a:lnTo>
                  <a:pt x="266517" y="736599"/>
                </a:lnTo>
                <a:lnTo>
                  <a:pt x="400605" y="736599"/>
                </a:lnTo>
                <a:lnTo>
                  <a:pt x="406763" y="749299"/>
                </a:lnTo>
                <a:lnTo>
                  <a:pt x="413094" y="761999"/>
                </a:lnTo>
                <a:lnTo>
                  <a:pt x="419599" y="761999"/>
                </a:lnTo>
                <a:lnTo>
                  <a:pt x="426278" y="774699"/>
                </a:lnTo>
                <a:lnTo>
                  <a:pt x="433122" y="774699"/>
                </a:lnTo>
                <a:lnTo>
                  <a:pt x="440124" y="787399"/>
                </a:lnTo>
                <a:lnTo>
                  <a:pt x="447283" y="787399"/>
                </a:lnTo>
                <a:lnTo>
                  <a:pt x="454599" y="800099"/>
                </a:lnTo>
                <a:lnTo>
                  <a:pt x="462064" y="800099"/>
                </a:lnTo>
                <a:lnTo>
                  <a:pt x="469669" y="812799"/>
                </a:lnTo>
                <a:lnTo>
                  <a:pt x="485298" y="812799"/>
                </a:lnTo>
                <a:lnTo>
                  <a:pt x="493312" y="825499"/>
                </a:lnTo>
                <a:close/>
              </a:path>
              <a:path w="1403350" h="1358900">
                <a:moveTo>
                  <a:pt x="1082142" y="825499"/>
                </a:moveTo>
                <a:lnTo>
                  <a:pt x="910117" y="825499"/>
                </a:lnTo>
                <a:lnTo>
                  <a:pt x="918135" y="812799"/>
                </a:lnTo>
                <a:lnTo>
                  <a:pt x="933771" y="812799"/>
                </a:lnTo>
                <a:lnTo>
                  <a:pt x="941379" y="800099"/>
                </a:lnTo>
                <a:lnTo>
                  <a:pt x="948847" y="800099"/>
                </a:lnTo>
                <a:lnTo>
                  <a:pt x="956167" y="787399"/>
                </a:lnTo>
                <a:lnTo>
                  <a:pt x="963328" y="787399"/>
                </a:lnTo>
                <a:lnTo>
                  <a:pt x="970332" y="774699"/>
                </a:lnTo>
                <a:lnTo>
                  <a:pt x="977179" y="774699"/>
                </a:lnTo>
                <a:lnTo>
                  <a:pt x="983859" y="761999"/>
                </a:lnTo>
                <a:lnTo>
                  <a:pt x="990366" y="761999"/>
                </a:lnTo>
                <a:lnTo>
                  <a:pt x="996698" y="749299"/>
                </a:lnTo>
                <a:lnTo>
                  <a:pt x="1002857" y="736599"/>
                </a:lnTo>
                <a:lnTo>
                  <a:pt x="1136818" y="736599"/>
                </a:lnTo>
                <a:lnTo>
                  <a:pt x="1115200" y="774699"/>
                </a:lnTo>
                <a:lnTo>
                  <a:pt x="1090846" y="812799"/>
                </a:lnTo>
                <a:lnTo>
                  <a:pt x="1082142" y="825499"/>
                </a:lnTo>
                <a:close/>
              </a:path>
              <a:path w="1403350" h="1358900">
                <a:moveTo>
                  <a:pt x="561503" y="863599"/>
                </a:moveTo>
                <a:lnTo>
                  <a:pt x="358728" y="863599"/>
                </a:lnTo>
                <a:lnTo>
                  <a:pt x="348944" y="850899"/>
                </a:lnTo>
                <a:lnTo>
                  <a:pt x="339427" y="838199"/>
                </a:lnTo>
                <a:lnTo>
                  <a:pt x="330176" y="825499"/>
                </a:lnTo>
                <a:lnTo>
                  <a:pt x="501447" y="825499"/>
                </a:lnTo>
                <a:lnTo>
                  <a:pt x="509702" y="838199"/>
                </a:lnTo>
                <a:lnTo>
                  <a:pt x="526565" y="838199"/>
                </a:lnTo>
                <a:lnTo>
                  <a:pt x="535152" y="850899"/>
                </a:lnTo>
                <a:lnTo>
                  <a:pt x="552626" y="850899"/>
                </a:lnTo>
                <a:lnTo>
                  <a:pt x="561503" y="863599"/>
                </a:lnTo>
                <a:close/>
              </a:path>
              <a:path w="1403350" h="1358900">
                <a:moveTo>
                  <a:pt x="1044606" y="863599"/>
                </a:moveTo>
                <a:lnTo>
                  <a:pt x="841891" y="863599"/>
                </a:lnTo>
                <a:lnTo>
                  <a:pt x="850773" y="850899"/>
                </a:lnTo>
                <a:lnTo>
                  <a:pt x="868256" y="850899"/>
                </a:lnTo>
                <a:lnTo>
                  <a:pt x="876848" y="838199"/>
                </a:lnTo>
                <a:lnTo>
                  <a:pt x="893719" y="838199"/>
                </a:lnTo>
                <a:lnTo>
                  <a:pt x="901978" y="825499"/>
                </a:lnTo>
                <a:lnTo>
                  <a:pt x="1073158" y="825499"/>
                </a:lnTo>
                <a:lnTo>
                  <a:pt x="1063908" y="838199"/>
                </a:lnTo>
                <a:lnTo>
                  <a:pt x="1054390" y="850899"/>
                </a:lnTo>
                <a:lnTo>
                  <a:pt x="1044606" y="863599"/>
                </a:lnTo>
                <a:close/>
              </a:path>
              <a:path w="1403350" h="1358900">
                <a:moveTo>
                  <a:pt x="673016" y="888999"/>
                </a:moveTo>
                <a:lnTo>
                  <a:pt x="389549" y="888999"/>
                </a:lnTo>
                <a:lnTo>
                  <a:pt x="379038" y="876299"/>
                </a:lnTo>
                <a:lnTo>
                  <a:pt x="368764" y="863599"/>
                </a:lnTo>
                <a:lnTo>
                  <a:pt x="588610" y="863599"/>
                </a:lnTo>
                <a:lnTo>
                  <a:pt x="597792" y="876299"/>
                </a:lnTo>
                <a:lnTo>
                  <a:pt x="663490" y="876299"/>
                </a:lnTo>
                <a:lnTo>
                  <a:pt x="673016" y="888999"/>
                </a:lnTo>
                <a:close/>
              </a:path>
              <a:path w="1403350" h="1358900">
                <a:moveTo>
                  <a:pt x="1013785" y="888999"/>
                </a:moveTo>
                <a:lnTo>
                  <a:pt x="730327" y="888999"/>
                </a:lnTo>
                <a:lnTo>
                  <a:pt x="739858" y="876299"/>
                </a:lnTo>
                <a:lnTo>
                  <a:pt x="805584" y="876299"/>
                </a:lnTo>
                <a:lnTo>
                  <a:pt x="814771" y="863599"/>
                </a:lnTo>
                <a:lnTo>
                  <a:pt x="1034570" y="863599"/>
                </a:lnTo>
                <a:lnTo>
                  <a:pt x="1024297" y="876299"/>
                </a:lnTo>
                <a:lnTo>
                  <a:pt x="1013785" y="888999"/>
                </a:lnTo>
                <a:close/>
              </a:path>
              <a:path w="1403350" h="1358900">
                <a:moveTo>
                  <a:pt x="980889" y="914399"/>
                </a:moveTo>
                <a:lnTo>
                  <a:pt x="422445" y="914399"/>
                </a:lnTo>
                <a:lnTo>
                  <a:pt x="411269" y="901699"/>
                </a:lnTo>
                <a:lnTo>
                  <a:pt x="400298" y="888999"/>
                </a:lnTo>
                <a:lnTo>
                  <a:pt x="1003036" y="888999"/>
                </a:lnTo>
                <a:lnTo>
                  <a:pt x="992065" y="901699"/>
                </a:lnTo>
                <a:lnTo>
                  <a:pt x="980889" y="914399"/>
                </a:lnTo>
                <a:close/>
              </a:path>
              <a:path w="1403350" h="1358900">
                <a:moveTo>
                  <a:pt x="81944" y="1358899"/>
                </a:moveTo>
                <a:lnTo>
                  <a:pt x="71404" y="1358899"/>
                </a:lnTo>
                <a:lnTo>
                  <a:pt x="56165" y="1346199"/>
                </a:lnTo>
                <a:lnTo>
                  <a:pt x="41323" y="1333499"/>
                </a:lnTo>
                <a:lnTo>
                  <a:pt x="26877" y="1308099"/>
                </a:lnTo>
                <a:lnTo>
                  <a:pt x="12829" y="1295399"/>
                </a:lnTo>
                <a:lnTo>
                  <a:pt x="0" y="1282699"/>
                </a:lnTo>
                <a:lnTo>
                  <a:pt x="13248" y="1257299"/>
                </a:lnTo>
                <a:lnTo>
                  <a:pt x="43201" y="1219199"/>
                </a:lnTo>
                <a:lnTo>
                  <a:pt x="75334" y="1168399"/>
                </a:lnTo>
                <a:lnTo>
                  <a:pt x="109543" y="1130299"/>
                </a:lnTo>
                <a:lnTo>
                  <a:pt x="145723" y="1104899"/>
                </a:lnTo>
                <a:lnTo>
                  <a:pt x="183770" y="1066799"/>
                </a:lnTo>
                <a:lnTo>
                  <a:pt x="223579" y="1041399"/>
                </a:lnTo>
                <a:lnTo>
                  <a:pt x="265047" y="1015999"/>
                </a:lnTo>
                <a:lnTo>
                  <a:pt x="308069" y="990599"/>
                </a:lnTo>
                <a:lnTo>
                  <a:pt x="352541" y="965199"/>
                </a:lnTo>
                <a:lnTo>
                  <a:pt x="398357" y="939799"/>
                </a:lnTo>
                <a:lnTo>
                  <a:pt x="445415" y="927099"/>
                </a:lnTo>
                <a:lnTo>
                  <a:pt x="433827" y="914399"/>
                </a:lnTo>
                <a:lnTo>
                  <a:pt x="969507" y="914399"/>
                </a:lnTo>
                <a:lnTo>
                  <a:pt x="957920" y="927099"/>
                </a:lnTo>
                <a:lnTo>
                  <a:pt x="1004977" y="939799"/>
                </a:lnTo>
                <a:lnTo>
                  <a:pt x="1050794" y="965199"/>
                </a:lnTo>
                <a:lnTo>
                  <a:pt x="1095265" y="990599"/>
                </a:lnTo>
                <a:lnTo>
                  <a:pt x="701667" y="990599"/>
                </a:lnTo>
                <a:lnTo>
                  <a:pt x="650637" y="1003299"/>
                </a:lnTo>
                <a:lnTo>
                  <a:pt x="600413" y="1003299"/>
                </a:lnTo>
                <a:lnTo>
                  <a:pt x="455928" y="1041399"/>
                </a:lnTo>
                <a:lnTo>
                  <a:pt x="410275" y="1054099"/>
                </a:lnTo>
                <a:lnTo>
                  <a:pt x="366098" y="1079499"/>
                </a:lnTo>
                <a:lnTo>
                  <a:pt x="323533" y="1104899"/>
                </a:lnTo>
                <a:lnTo>
                  <a:pt x="282713" y="1130299"/>
                </a:lnTo>
                <a:lnTo>
                  <a:pt x="243772" y="1168399"/>
                </a:lnTo>
                <a:lnTo>
                  <a:pt x="206844" y="1193799"/>
                </a:lnTo>
                <a:lnTo>
                  <a:pt x="172064" y="1231899"/>
                </a:lnTo>
                <a:lnTo>
                  <a:pt x="139564" y="1269999"/>
                </a:lnTo>
                <a:lnTo>
                  <a:pt x="109479" y="1308099"/>
                </a:lnTo>
                <a:lnTo>
                  <a:pt x="81944" y="1358899"/>
                </a:lnTo>
                <a:close/>
              </a:path>
              <a:path w="1403350" h="1358900">
                <a:moveTo>
                  <a:pt x="1331930" y="1358899"/>
                </a:moveTo>
                <a:lnTo>
                  <a:pt x="1321391" y="1358899"/>
                </a:lnTo>
                <a:lnTo>
                  <a:pt x="1293855" y="1308099"/>
                </a:lnTo>
                <a:lnTo>
                  <a:pt x="1263770" y="1269999"/>
                </a:lnTo>
                <a:lnTo>
                  <a:pt x="1231271" y="1231899"/>
                </a:lnTo>
                <a:lnTo>
                  <a:pt x="1196490" y="1193799"/>
                </a:lnTo>
                <a:lnTo>
                  <a:pt x="1159562" y="1168399"/>
                </a:lnTo>
                <a:lnTo>
                  <a:pt x="1120621" y="1130299"/>
                </a:lnTo>
                <a:lnTo>
                  <a:pt x="1079801" y="1104899"/>
                </a:lnTo>
                <a:lnTo>
                  <a:pt x="1037236" y="1079499"/>
                </a:lnTo>
                <a:lnTo>
                  <a:pt x="993060" y="1054099"/>
                </a:lnTo>
                <a:lnTo>
                  <a:pt x="947406" y="1041399"/>
                </a:lnTo>
                <a:lnTo>
                  <a:pt x="802921" y="1003299"/>
                </a:lnTo>
                <a:lnTo>
                  <a:pt x="752698" y="1003299"/>
                </a:lnTo>
                <a:lnTo>
                  <a:pt x="701667" y="990599"/>
                </a:lnTo>
                <a:lnTo>
                  <a:pt x="1095265" y="990599"/>
                </a:lnTo>
                <a:lnTo>
                  <a:pt x="1138287" y="1015999"/>
                </a:lnTo>
                <a:lnTo>
                  <a:pt x="1179755" y="1041399"/>
                </a:lnTo>
                <a:lnTo>
                  <a:pt x="1219565" y="1066799"/>
                </a:lnTo>
                <a:lnTo>
                  <a:pt x="1257612" y="1104899"/>
                </a:lnTo>
                <a:lnTo>
                  <a:pt x="1293792" y="1130299"/>
                </a:lnTo>
                <a:lnTo>
                  <a:pt x="1328001" y="1168399"/>
                </a:lnTo>
                <a:lnTo>
                  <a:pt x="1360134" y="1219199"/>
                </a:lnTo>
                <a:lnTo>
                  <a:pt x="1390087" y="1257299"/>
                </a:lnTo>
                <a:lnTo>
                  <a:pt x="1403331" y="1282699"/>
                </a:lnTo>
                <a:lnTo>
                  <a:pt x="1390506" y="1295399"/>
                </a:lnTo>
                <a:lnTo>
                  <a:pt x="1376457" y="1308099"/>
                </a:lnTo>
                <a:lnTo>
                  <a:pt x="1362012" y="1333499"/>
                </a:lnTo>
                <a:lnTo>
                  <a:pt x="1347169" y="1346199"/>
                </a:lnTo>
                <a:lnTo>
                  <a:pt x="1331930" y="1358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2924" y="3489872"/>
            <a:ext cx="16392525" cy="2286000"/>
          </a:xfrm>
          <a:custGeom>
            <a:avLst/>
            <a:gdLst/>
            <a:ahLst/>
            <a:cxnLst/>
            <a:rect l="l" t="t" r="r" b="b"/>
            <a:pathLst>
              <a:path w="16392525" h="2286000">
                <a:moveTo>
                  <a:pt x="285749" y="0"/>
                </a:moveTo>
                <a:lnTo>
                  <a:pt x="16106772" y="0"/>
                </a:lnTo>
                <a:lnTo>
                  <a:pt x="16113785" y="171"/>
                </a:lnTo>
                <a:lnTo>
                  <a:pt x="16120794" y="341"/>
                </a:lnTo>
                <a:lnTo>
                  <a:pt x="16162517" y="5490"/>
                </a:lnTo>
                <a:lnTo>
                  <a:pt x="16169363" y="7027"/>
                </a:lnTo>
                <a:lnTo>
                  <a:pt x="16176203" y="8561"/>
                </a:lnTo>
                <a:lnTo>
                  <a:pt x="16216122" y="21750"/>
                </a:lnTo>
                <a:lnTo>
                  <a:pt x="16222535" y="24592"/>
                </a:lnTo>
                <a:lnTo>
                  <a:pt x="16228944" y="27432"/>
                </a:lnTo>
                <a:lnTo>
                  <a:pt x="16235207" y="30583"/>
                </a:lnTo>
                <a:lnTo>
                  <a:pt x="16241473" y="33737"/>
                </a:lnTo>
                <a:lnTo>
                  <a:pt x="16247576" y="37195"/>
                </a:lnTo>
                <a:lnTo>
                  <a:pt x="16253676" y="40652"/>
                </a:lnTo>
                <a:lnTo>
                  <a:pt x="16259598" y="44403"/>
                </a:lnTo>
                <a:lnTo>
                  <a:pt x="16265523" y="48156"/>
                </a:lnTo>
                <a:lnTo>
                  <a:pt x="16271260" y="52195"/>
                </a:lnTo>
                <a:lnTo>
                  <a:pt x="16276993" y="56231"/>
                </a:lnTo>
                <a:lnTo>
                  <a:pt x="16282520" y="60543"/>
                </a:lnTo>
                <a:lnTo>
                  <a:pt x="16288050" y="64858"/>
                </a:lnTo>
                <a:lnTo>
                  <a:pt x="16293362" y="69441"/>
                </a:lnTo>
                <a:lnTo>
                  <a:pt x="16298670" y="74021"/>
                </a:lnTo>
                <a:lnTo>
                  <a:pt x="16303747" y="78855"/>
                </a:lnTo>
                <a:lnTo>
                  <a:pt x="16308827" y="83693"/>
                </a:lnTo>
                <a:lnTo>
                  <a:pt x="16313664" y="88773"/>
                </a:lnTo>
                <a:lnTo>
                  <a:pt x="16318499" y="93849"/>
                </a:lnTo>
                <a:lnTo>
                  <a:pt x="16323078" y="99157"/>
                </a:lnTo>
                <a:lnTo>
                  <a:pt x="16327660" y="104468"/>
                </a:lnTo>
                <a:lnTo>
                  <a:pt x="16331975" y="109999"/>
                </a:lnTo>
                <a:lnTo>
                  <a:pt x="16336288" y="115526"/>
                </a:lnTo>
                <a:lnTo>
                  <a:pt x="16340324" y="121258"/>
                </a:lnTo>
                <a:lnTo>
                  <a:pt x="16344362" y="126994"/>
                </a:lnTo>
                <a:lnTo>
                  <a:pt x="16348116" y="132920"/>
                </a:lnTo>
                <a:lnTo>
                  <a:pt x="16351868" y="138843"/>
                </a:lnTo>
                <a:lnTo>
                  <a:pt x="16370769" y="176397"/>
                </a:lnTo>
                <a:lnTo>
                  <a:pt x="16373295" y="182942"/>
                </a:lnTo>
                <a:lnTo>
                  <a:pt x="16375820" y="189482"/>
                </a:lnTo>
                <a:lnTo>
                  <a:pt x="16387033" y="230002"/>
                </a:lnTo>
                <a:lnTo>
                  <a:pt x="16388233" y="236913"/>
                </a:lnTo>
                <a:lnTo>
                  <a:pt x="16389433" y="243821"/>
                </a:lnTo>
                <a:lnTo>
                  <a:pt x="16392524" y="285749"/>
                </a:lnTo>
                <a:lnTo>
                  <a:pt x="16392524" y="2000249"/>
                </a:lnTo>
                <a:lnTo>
                  <a:pt x="16392352" y="2007262"/>
                </a:lnTo>
                <a:lnTo>
                  <a:pt x="16392182" y="2014270"/>
                </a:lnTo>
                <a:lnTo>
                  <a:pt x="16387031" y="2055997"/>
                </a:lnTo>
                <a:lnTo>
                  <a:pt x="16385495" y="2062841"/>
                </a:lnTo>
                <a:lnTo>
                  <a:pt x="16383960" y="2069681"/>
                </a:lnTo>
                <a:lnTo>
                  <a:pt x="16370769" y="2109601"/>
                </a:lnTo>
                <a:lnTo>
                  <a:pt x="16367927" y="2116014"/>
                </a:lnTo>
                <a:lnTo>
                  <a:pt x="16365087" y="2122423"/>
                </a:lnTo>
                <a:lnTo>
                  <a:pt x="16344362" y="2159004"/>
                </a:lnTo>
                <a:lnTo>
                  <a:pt x="16340323" y="2164740"/>
                </a:lnTo>
                <a:lnTo>
                  <a:pt x="16336288" y="2170472"/>
                </a:lnTo>
                <a:lnTo>
                  <a:pt x="16308826" y="2202305"/>
                </a:lnTo>
                <a:lnTo>
                  <a:pt x="16303746" y="2207142"/>
                </a:lnTo>
                <a:lnTo>
                  <a:pt x="16298670" y="2211977"/>
                </a:lnTo>
                <a:lnTo>
                  <a:pt x="16265524" y="2237841"/>
                </a:lnTo>
                <a:lnTo>
                  <a:pt x="16259598" y="2241594"/>
                </a:lnTo>
                <a:lnTo>
                  <a:pt x="16253676" y="2245346"/>
                </a:lnTo>
                <a:lnTo>
                  <a:pt x="16216122" y="2264248"/>
                </a:lnTo>
                <a:lnTo>
                  <a:pt x="16209578" y="2266773"/>
                </a:lnTo>
                <a:lnTo>
                  <a:pt x="16203038" y="2269297"/>
                </a:lnTo>
                <a:lnTo>
                  <a:pt x="16196382" y="2271497"/>
                </a:lnTo>
                <a:lnTo>
                  <a:pt x="16189721" y="2273698"/>
                </a:lnTo>
                <a:lnTo>
                  <a:pt x="16182960" y="2275568"/>
                </a:lnTo>
                <a:lnTo>
                  <a:pt x="16176203" y="2277437"/>
                </a:lnTo>
                <a:lnTo>
                  <a:pt x="16169363" y="2278972"/>
                </a:lnTo>
                <a:lnTo>
                  <a:pt x="16162518" y="2280508"/>
                </a:lnTo>
                <a:lnTo>
                  <a:pt x="16155607" y="2281708"/>
                </a:lnTo>
                <a:lnTo>
                  <a:pt x="16148700" y="2282908"/>
                </a:lnTo>
                <a:lnTo>
                  <a:pt x="16141743" y="2283767"/>
                </a:lnTo>
                <a:lnTo>
                  <a:pt x="16134782" y="2284626"/>
                </a:lnTo>
                <a:lnTo>
                  <a:pt x="16127786" y="2285142"/>
                </a:lnTo>
                <a:lnTo>
                  <a:pt x="16120794" y="2285656"/>
                </a:lnTo>
                <a:lnTo>
                  <a:pt x="16113785" y="2285828"/>
                </a:lnTo>
                <a:lnTo>
                  <a:pt x="16106772" y="2285999"/>
                </a:lnTo>
                <a:lnTo>
                  <a:pt x="285749" y="2285999"/>
                </a:lnTo>
                <a:lnTo>
                  <a:pt x="278737" y="2285828"/>
                </a:lnTo>
                <a:lnTo>
                  <a:pt x="271728" y="2285657"/>
                </a:lnTo>
                <a:lnTo>
                  <a:pt x="230002" y="2280508"/>
                </a:lnTo>
                <a:lnTo>
                  <a:pt x="223158" y="2278972"/>
                </a:lnTo>
                <a:lnTo>
                  <a:pt x="216317" y="2277438"/>
                </a:lnTo>
                <a:lnTo>
                  <a:pt x="176398" y="2264247"/>
                </a:lnTo>
                <a:lnTo>
                  <a:pt x="169984" y="2261405"/>
                </a:lnTo>
                <a:lnTo>
                  <a:pt x="163575" y="2258566"/>
                </a:lnTo>
                <a:lnTo>
                  <a:pt x="157312" y="2255414"/>
                </a:lnTo>
                <a:lnTo>
                  <a:pt x="151046" y="2252261"/>
                </a:lnTo>
                <a:lnTo>
                  <a:pt x="144943" y="2248803"/>
                </a:lnTo>
                <a:lnTo>
                  <a:pt x="138844" y="2245346"/>
                </a:lnTo>
                <a:lnTo>
                  <a:pt x="132921" y="2241595"/>
                </a:lnTo>
                <a:lnTo>
                  <a:pt x="126995" y="2237841"/>
                </a:lnTo>
                <a:lnTo>
                  <a:pt x="121260" y="2233803"/>
                </a:lnTo>
                <a:lnTo>
                  <a:pt x="115527" y="2229767"/>
                </a:lnTo>
                <a:lnTo>
                  <a:pt x="110000" y="2225454"/>
                </a:lnTo>
                <a:lnTo>
                  <a:pt x="104470" y="2221139"/>
                </a:lnTo>
                <a:lnTo>
                  <a:pt x="99158" y="2216557"/>
                </a:lnTo>
                <a:lnTo>
                  <a:pt x="93851" y="2211977"/>
                </a:lnTo>
                <a:lnTo>
                  <a:pt x="88774" y="2207142"/>
                </a:lnTo>
                <a:lnTo>
                  <a:pt x="83694" y="2202305"/>
                </a:lnTo>
                <a:lnTo>
                  <a:pt x="78856" y="2197225"/>
                </a:lnTo>
                <a:lnTo>
                  <a:pt x="74021" y="2192148"/>
                </a:lnTo>
                <a:lnTo>
                  <a:pt x="69441" y="2186840"/>
                </a:lnTo>
                <a:lnTo>
                  <a:pt x="64859" y="2181529"/>
                </a:lnTo>
                <a:lnTo>
                  <a:pt x="60544" y="2175998"/>
                </a:lnTo>
                <a:lnTo>
                  <a:pt x="56232" y="2170471"/>
                </a:lnTo>
                <a:lnTo>
                  <a:pt x="52195" y="2164739"/>
                </a:lnTo>
                <a:lnTo>
                  <a:pt x="48157" y="2159003"/>
                </a:lnTo>
                <a:lnTo>
                  <a:pt x="44404" y="2153077"/>
                </a:lnTo>
                <a:lnTo>
                  <a:pt x="40652" y="2147155"/>
                </a:lnTo>
                <a:lnTo>
                  <a:pt x="37196" y="2141055"/>
                </a:lnTo>
                <a:lnTo>
                  <a:pt x="33738" y="2134952"/>
                </a:lnTo>
                <a:lnTo>
                  <a:pt x="30584" y="2128686"/>
                </a:lnTo>
                <a:lnTo>
                  <a:pt x="27433" y="2122423"/>
                </a:lnTo>
                <a:lnTo>
                  <a:pt x="24593" y="2116014"/>
                </a:lnTo>
                <a:lnTo>
                  <a:pt x="21751" y="2109601"/>
                </a:lnTo>
                <a:lnTo>
                  <a:pt x="19226" y="2103056"/>
                </a:lnTo>
                <a:lnTo>
                  <a:pt x="16701" y="2096516"/>
                </a:lnTo>
                <a:lnTo>
                  <a:pt x="14502" y="2089859"/>
                </a:lnTo>
                <a:lnTo>
                  <a:pt x="12301" y="2083199"/>
                </a:lnTo>
                <a:lnTo>
                  <a:pt x="10430" y="2076438"/>
                </a:lnTo>
                <a:lnTo>
                  <a:pt x="8562" y="2069681"/>
                </a:lnTo>
                <a:lnTo>
                  <a:pt x="7026" y="2062841"/>
                </a:lnTo>
                <a:lnTo>
                  <a:pt x="5490" y="2055996"/>
                </a:lnTo>
                <a:lnTo>
                  <a:pt x="4290" y="2049085"/>
                </a:lnTo>
                <a:lnTo>
                  <a:pt x="3090" y="2042178"/>
                </a:lnTo>
                <a:lnTo>
                  <a:pt x="0" y="2000249"/>
                </a:lnTo>
                <a:lnTo>
                  <a:pt x="0" y="285749"/>
                </a:lnTo>
                <a:lnTo>
                  <a:pt x="171" y="278737"/>
                </a:lnTo>
                <a:lnTo>
                  <a:pt x="341" y="271728"/>
                </a:lnTo>
                <a:lnTo>
                  <a:pt x="5490" y="230002"/>
                </a:lnTo>
                <a:lnTo>
                  <a:pt x="7026" y="223158"/>
                </a:lnTo>
                <a:lnTo>
                  <a:pt x="8561" y="216317"/>
                </a:lnTo>
                <a:lnTo>
                  <a:pt x="10430" y="209560"/>
                </a:lnTo>
                <a:lnTo>
                  <a:pt x="12300" y="202799"/>
                </a:lnTo>
                <a:lnTo>
                  <a:pt x="14501" y="196139"/>
                </a:lnTo>
                <a:lnTo>
                  <a:pt x="16702" y="189482"/>
                </a:lnTo>
                <a:lnTo>
                  <a:pt x="19225" y="182942"/>
                </a:lnTo>
                <a:lnTo>
                  <a:pt x="21751" y="176397"/>
                </a:lnTo>
                <a:lnTo>
                  <a:pt x="24593" y="169984"/>
                </a:lnTo>
                <a:lnTo>
                  <a:pt x="27432" y="163574"/>
                </a:lnTo>
                <a:lnTo>
                  <a:pt x="30584" y="157312"/>
                </a:lnTo>
                <a:lnTo>
                  <a:pt x="33737" y="151046"/>
                </a:lnTo>
                <a:lnTo>
                  <a:pt x="37195" y="144943"/>
                </a:lnTo>
                <a:lnTo>
                  <a:pt x="40652" y="138844"/>
                </a:lnTo>
                <a:lnTo>
                  <a:pt x="44403" y="132921"/>
                </a:lnTo>
                <a:lnTo>
                  <a:pt x="48157" y="126995"/>
                </a:lnTo>
                <a:lnTo>
                  <a:pt x="52195" y="121259"/>
                </a:lnTo>
                <a:lnTo>
                  <a:pt x="56231" y="115527"/>
                </a:lnTo>
                <a:lnTo>
                  <a:pt x="83693" y="83693"/>
                </a:lnTo>
                <a:lnTo>
                  <a:pt x="88773" y="78856"/>
                </a:lnTo>
                <a:lnTo>
                  <a:pt x="93850" y="74021"/>
                </a:lnTo>
                <a:lnTo>
                  <a:pt x="99158" y="69441"/>
                </a:lnTo>
                <a:lnTo>
                  <a:pt x="104469" y="64859"/>
                </a:lnTo>
                <a:lnTo>
                  <a:pt x="110000" y="60543"/>
                </a:lnTo>
                <a:lnTo>
                  <a:pt x="115527" y="56231"/>
                </a:lnTo>
                <a:lnTo>
                  <a:pt x="121259" y="52195"/>
                </a:lnTo>
                <a:lnTo>
                  <a:pt x="126995" y="48157"/>
                </a:lnTo>
                <a:lnTo>
                  <a:pt x="132921" y="44403"/>
                </a:lnTo>
                <a:lnTo>
                  <a:pt x="138843" y="40651"/>
                </a:lnTo>
                <a:lnTo>
                  <a:pt x="176398" y="21751"/>
                </a:lnTo>
                <a:lnTo>
                  <a:pt x="182942" y="19226"/>
                </a:lnTo>
                <a:lnTo>
                  <a:pt x="189482" y="16701"/>
                </a:lnTo>
                <a:lnTo>
                  <a:pt x="230002" y="5490"/>
                </a:lnTo>
                <a:lnTo>
                  <a:pt x="236914" y="4290"/>
                </a:lnTo>
                <a:lnTo>
                  <a:pt x="243821" y="3090"/>
                </a:lnTo>
                <a:lnTo>
                  <a:pt x="278737" y="171"/>
                </a:lnTo>
                <a:lnTo>
                  <a:pt x="285749" y="0"/>
                </a:lnTo>
              </a:path>
            </a:pathLst>
          </a:custGeom>
          <a:ln w="76199">
            <a:solidFill>
              <a:srgbClr val="44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5230" y="868183"/>
            <a:ext cx="8910955" cy="2244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8930"/>
              </a:lnSpc>
            </a:pPr>
            <a:r>
              <a:rPr dirty="0"/>
              <a:t>Problem</a:t>
            </a:r>
            <a:r>
              <a:rPr spc="-50" dirty="0"/>
              <a:t> </a:t>
            </a:r>
            <a:r>
              <a:rPr dirty="0"/>
              <a:t>Statement</a:t>
            </a:r>
            <a:r>
              <a:rPr spc="-50" dirty="0"/>
              <a:t> &amp; </a:t>
            </a:r>
            <a:r>
              <a:rPr dirty="0"/>
              <a:t>Research</a:t>
            </a:r>
            <a:r>
              <a:rPr spc="-114" dirty="0"/>
              <a:t> </a:t>
            </a:r>
            <a:r>
              <a:rPr spc="-10" dirty="0"/>
              <a:t>Questions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207" y="6256002"/>
            <a:ext cx="6527165" cy="94932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645"/>
              </a:spcBef>
            </a:pPr>
            <a:r>
              <a:rPr sz="3250" spc="-185" dirty="0">
                <a:solidFill>
                  <a:srgbClr val="440099"/>
                </a:solidFill>
                <a:latin typeface="Arial MT"/>
                <a:cs typeface="Arial MT"/>
              </a:rPr>
              <a:t>RQ1</a:t>
            </a:r>
            <a:r>
              <a:rPr sz="3250" spc="-80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dirty="0">
                <a:solidFill>
                  <a:srgbClr val="440099"/>
                </a:solidFill>
                <a:latin typeface="Arial MT"/>
                <a:cs typeface="Arial MT"/>
              </a:rPr>
              <a:t>-</a:t>
            </a:r>
            <a:r>
              <a:rPr sz="3250" spc="-114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spc="-180" dirty="0">
                <a:latin typeface="Arial MT"/>
                <a:cs typeface="Arial MT"/>
              </a:rPr>
              <a:t>How</a:t>
            </a:r>
            <a:r>
              <a:rPr sz="3250" spc="-70" dirty="0">
                <a:latin typeface="Arial MT"/>
                <a:cs typeface="Arial MT"/>
              </a:rPr>
              <a:t> </a:t>
            </a:r>
            <a:r>
              <a:rPr sz="3250" spc="-105" dirty="0">
                <a:latin typeface="Arial MT"/>
                <a:cs typeface="Arial MT"/>
              </a:rPr>
              <a:t>similar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are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55" dirty="0">
                <a:latin typeface="Arial MT"/>
                <a:cs typeface="Arial MT"/>
              </a:rPr>
              <a:t>LLM-</a:t>
            </a:r>
            <a:r>
              <a:rPr sz="3250" spc="-80" dirty="0">
                <a:latin typeface="Arial MT"/>
                <a:cs typeface="Arial MT"/>
              </a:rPr>
              <a:t>generated </a:t>
            </a:r>
            <a:r>
              <a:rPr sz="3250" spc="-135" dirty="0">
                <a:latin typeface="Arial MT"/>
                <a:cs typeface="Arial MT"/>
              </a:rPr>
              <a:t>paraphrased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spc="-125" dirty="0">
                <a:latin typeface="Arial MT"/>
                <a:cs typeface="Arial MT"/>
              </a:rPr>
              <a:t>tweets</a:t>
            </a:r>
            <a:r>
              <a:rPr sz="3250" spc="-80" dirty="0">
                <a:latin typeface="Arial MT"/>
                <a:cs typeface="Arial MT"/>
              </a:rPr>
              <a:t> to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spc="-155" dirty="0">
                <a:latin typeface="Arial MT"/>
                <a:cs typeface="Arial MT"/>
              </a:rPr>
              <a:t>human-</a:t>
            </a:r>
            <a:r>
              <a:rPr sz="3250" spc="-114" dirty="0">
                <a:latin typeface="Arial MT"/>
                <a:cs typeface="Arial MT"/>
              </a:rPr>
              <a:t>written?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7276" y="6257291"/>
            <a:ext cx="7690484" cy="13779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645"/>
              </a:spcBef>
            </a:pPr>
            <a:r>
              <a:rPr sz="3250" spc="-185" dirty="0">
                <a:solidFill>
                  <a:srgbClr val="440099"/>
                </a:solidFill>
                <a:latin typeface="Arial MT"/>
                <a:cs typeface="Arial MT"/>
              </a:rPr>
              <a:t>RQ2</a:t>
            </a:r>
            <a:r>
              <a:rPr sz="3250" spc="-70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dirty="0">
                <a:solidFill>
                  <a:srgbClr val="440099"/>
                </a:solidFill>
                <a:latin typeface="Arial MT"/>
                <a:cs typeface="Arial MT"/>
              </a:rPr>
              <a:t>-</a:t>
            </a:r>
            <a:r>
              <a:rPr sz="3250" spc="-110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spc="-160" dirty="0">
                <a:latin typeface="Arial MT"/>
                <a:cs typeface="Arial MT"/>
              </a:rPr>
              <a:t>Can</a:t>
            </a:r>
            <a:r>
              <a:rPr sz="3250" spc="-65" dirty="0">
                <a:latin typeface="Arial MT"/>
                <a:cs typeface="Arial MT"/>
              </a:rPr>
              <a:t> </a:t>
            </a:r>
            <a:r>
              <a:rPr sz="3250" spc="-110" dirty="0">
                <a:latin typeface="Arial MT"/>
                <a:cs typeface="Arial MT"/>
              </a:rPr>
              <a:t>existing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25" dirty="0">
                <a:latin typeface="Arial MT"/>
                <a:cs typeface="Arial MT"/>
              </a:rPr>
              <a:t>long-form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95" dirty="0">
                <a:latin typeface="Arial MT"/>
                <a:cs typeface="Arial MT"/>
              </a:rPr>
              <a:t>MGT</a:t>
            </a:r>
            <a:r>
              <a:rPr sz="3250" spc="-70" dirty="0">
                <a:latin typeface="Arial MT"/>
                <a:cs typeface="Arial MT"/>
              </a:rPr>
              <a:t> </a:t>
            </a:r>
            <a:r>
              <a:rPr sz="3250" spc="-110" dirty="0">
                <a:latin typeface="Arial MT"/>
                <a:cs typeface="Arial MT"/>
              </a:rPr>
              <a:t>detectors, </a:t>
            </a:r>
            <a:r>
              <a:rPr sz="3250" spc="-114" dirty="0">
                <a:latin typeface="Arial MT"/>
                <a:cs typeface="Arial MT"/>
              </a:rPr>
              <a:t>effectively</a:t>
            </a:r>
            <a:r>
              <a:rPr sz="3250" spc="-35" dirty="0">
                <a:latin typeface="Arial MT"/>
                <a:cs typeface="Arial MT"/>
              </a:rPr>
              <a:t> </a:t>
            </a:r>
            <a:r>
              <a:rPr sz="3250" spc="-105" dirty="0">
                <a:latin typeface="Arial MT"/>
                <a:cs typeface="Arial MT"/>
              </a:rPr>
              <a:t>identify</a:t>
            </a:r>
            <a:r>
              <a:rPr sz="3250" spc="-35" dirty="0">
                <a:latin typeface="Arial MT"/>
                <a:cs typeface="Arial MT"/>
              </a:rPr>
              <a:t> </a:t>
            </a:r>
            <a:r>
              <a:rPr sz="3250" spc="-140" dirty="0">
                <a:latin typeface="Arial MT"/>
                <a:cs typeface="Arial MT"/>
              </a:rPr>
              <a:t>machine-</a:t>
            </a:r>
            <a:r>
              <a:rPr sz="3250" spc="-10" dirty="0">
                <a:latin typeface="Arial MT"/>
                <a:cs typeface="Arial MT"/>
              </a:rPr>
              <a:t>generated </a:t>
            </a:r>
            <a:r>
              <a:rPr sz="3250" spc="-120" dirty="0">
                <a:latin typeface="Arial MT"/>
                <a:cs typeface="Arial MT"/>
              </a:rPr>
              <a:t>misinformation</a:t>
            </a:r>
            <a:r>
              <a:rPr sz="3250" spc="-105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tweets?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67276" y="7981460"/>
            <a:ext cx="6886575" cy="94932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>
              <a:lnSpc>
                <a:spcPts val="3370"/>
              </a:lnSpc>
              <a:spcBef>
                <a:spcPts val="650"/>
              </a:spcBef>
            </a:pPr>
            <a:r>
              <a:rPr sz="3250" spc="-185" dirty="0">
                <a:solidFill>
                  <a:srgbClr val="440099"/>
                </a:solidFill>
                <a:latin typeface="Arial MT"/>
                <a:cs typeface="Arial MT"/>
              </a:rPr>
              <a:t>RQ4</a:t>
            </a:r>
            <a:r>
              <a:rPr sz="3250" spc="-70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dirty="0">
                <a:solidFill>
                  <a:srgbClr val="440099"/>
                </a:solidFill>
                <a:latin typeface="Arial MT"/>
                <a:cs typeface="Arial MT"/>
              </a:rPr>
              <a:t>-</a:t>
            </a:r>
            <a:r>
              <a:rPr sz="3250" spc="-120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spc="-160" dirty="0">
                <a:latin typeface="Arial MT"/>
                <a:cs typeface="Arial MT"/>
              </a:rPr>
              <a:t>What</a:t>
            </a:r>
            <a:r>
              <a:rPr sz="3250" spc="-70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are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the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45" dirty="0">
                <a:latin typeface="Arial MT"/>
                <a:cs typeface="Arial MT"/>
              </a:rPr>
              <a:t>main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00" dirty="0">
                <a:latin typeface="Arial MT"/>
                <a:cs typeface="Arial MT"/>
              </a:rPr>
              <a:t>failure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patterns </a:t>
            </a:r>
            <a:r>
              <a:rPr sz="3250" spc="-135" dirty="0">
                <a:latin typeface="Arial MT"/>
                <a:cs typeface="Arial MT"/>
              </a:rPr>
              <a:t>observed</a:t>
            </a:r>
            <a:r>
              <a:rPr sz="3250" spc="-90" dirty="0">
                <a:latin typeface="Arial MT"/>
                <a:cs typeface="Arial MT"/>
              </a:rPr>
              <a:t> </a:t>
            </a:r>
            <a:r>
              <a:rPr sz="3250" spc="-85" dirty="0">
                <a:latin typeface="Arial MT"/>
                <a:cs typeface="Arial MT"/>
              </a:rPr>
              <a:t>for</a:t>
            </a:r>
            <a:r>
              <a:rPr sz="3250" spc="-100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detection?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0552" y="7973677"/>
            <a:ext cx="6781800" cy="137795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>
              <a:lnSpc>
                <a:spcPts val="3370"/>
              </a:lnSpc>
              <a:spcBef>
                <a:spcPts val="650"/>
              </a:spcBef>
            </a:pPr>
            <a:r>
              <a:rPr sz="3250" spc="-185" dirty="0">
                <a:solidFill>
                  <a:srgbClr val="440099"/>
                </a:solidFill>
                <a:latin typeface="Arial MT"/>
                <a:cs typeface="Arial MT"/>
              </a:rPr>
              <a:t>RQ3</a:t>
            </a:r>
            <a:r>
              <a:rPr sz="3250" spc="-70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dirty="0">
                <a:solidFill>
                  <a:srgbClr val="440099"/>
                </a:solidFill>
                <a:latin typeface="Arial MT"/>
                <a:cs typeface="Arial MT"/>
              </a:rPr>
              <a:t>-</a:t>
            </a:r>
            <a:r>
              <a:rPr sz="3250" spc="-140" dirty="0">
                <a:solidFill>
                  <a:srgbClr val="440099"/>
                </a:solidFill>
                <a:latin typeface="Arial MT"/>
                <a:cs typeface="Arial MT"/>
              </a:rPr>
              <a:t> </a:t>
            </a:r>
            <a:r>
              <a:rPr sz="3250" spc="-180" dirty="0">
                <a:latin typeface="Arial MT"/>
                <a:cs typeface="Arial MT"/>
              </a:rPr>
              <a:t>How</a:t>
            </a:r>
            <a:r>
              <a:rPr sz="3250" spc="-65" dirty="0">
                <a:latin typeface="Arial MT"/>
                <a:cs typeface="Arial MT"/>
              </a:rPr>
              <a:t> </a:t>
            </a:r>
            <a:r>
              <a:rPr sz="3250" spc="-70" dirty="0">
                <a:latin typeface="Arial MT"/>
                <a:cs typeface="Arial MT"/>
              </a:rPr>
              <a:t>will</a:t>
            </a:r>
            <a:r>
              <a:rPr sz="3250" spc="-90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finetuning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240" dirty="0">
                <a:latin typeface="Arial MT"/>
                <a:cs typeface="Arial MT"/>
              </a:rPr>
              <a:t>SOTA</a:t>
            </a:r>
            <a:r>
              <a:rPr sz="3250" spc="-70" dirty="0">
                <a:latin typeface="Arial MT"/>
                <a:cs typeface="Arial MT"/>
              </a:rPr>
              <a:t> </a:t>
            </a:r>
            <a:r>
              <a:rPr sz="3250" spc="-20" dirty="0">
                <a:latin typeface="Arial MT"/>
                <a:cs typeface="Arial MT"/>
              </a:rPr>
              <a:t>LLMs </a:t>
            </a:r>
            <a:r>
              <a:rPr sz="3250" spc="-130" dirty="0">
                <a:latin typeface="Arial MT"/>
                <a:cs typeface="Arial MT"/>
              </a:rPr>
              <a:t>perform</a:t>
            </a:r>
            <a:r>
              <a:rPr sz="3250" spc="-100" dirty="0">
                <a:latin typeface="Arial MT"/>
                <a:cs typeface="Arial MT"/>
              </a:rPr>
              <a:t> </a:t>
            </a:r>
            <a:r>
              <a:rPr sz="3250" spc="-50" dirty="0">
                <a:latin typeface="Arial MT"/>
                <a:cs typeface="Arial MT"/>
              </a:rPr>
              <a:t>in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20" dirty="0">
                <a:latin typeface="Arial MT"/>
                <a:cs typeface="Arial MT"/>
              </a:rPr>
              <a:t>detecting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40" dirty="0">
                <a:latin typeface="Arial MT"/>
                <a:cs typeface="Arial MT"/>
              </a:rPr>
              <a:t>machine-</a:t>
            </a:r>
            <a:r>
              <a:rPr sz="3250" spc="-130" dirty="0">
                <a:latin typeface="Arial MT"/>
                <a:cs typeface="Arial MT"/>
              </a:rPr>
              <a:t>generated </a:t>
            </a:r>
            <a:r>
              <a:rPr sz="3250" spc="-60" dirty="0">
                <a:latin typeface="Arial MT"/>
                <a:cs typeface="Arial MT"/>
              </a:rPr>
              <a:t>misinformation?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7337" y="3699317"/>
            <a:ext cx="15972790" cy="180657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645"/>
              </a:spcBef>
            </a:pPr>
            <a:r>
              <a:rPr sz="3250" spc="-125" dirty="0">
                <a:latin typeface="Arial MT"/>
                <a:cs typeface="Arial MT"/>
              </a:rPr>
              <a:t>With</a:t>
            </a:r>
            <a:r>
              <a:rPr sz="3250" spc="-95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the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90" dirty="0">
                <a:latin typeface="Arial MT"/>
                <a:cs typeface="Arial MT"/>
              </a:rPr>
              <a:t>rise</a:t>
            </a:r>
            <a:r>
              <a:rPr sz="3250" spc="-80" dirty="0">
                <a:latin typeface="Arial MT"/>
                <a:cs typeface="Arial MT"/>
              </a:rPr>
              <a:t> of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25" dirty="0">
                <a:latin typeface="Arial MT"/>
                <a:cs typeface="Arial MT"/>
              </a:rPr>
              <a:t>accessible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50" dirty="0">
                <a:latin typeface="Arial MT"/>
                <a:cs typeface="Arial MT"/>
              </a:rPr>
              <a:t>LLMs,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the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20" dirty="0">
                <a:latin typeface="Arial MT"/>
                <a:cs typeface="Arial MT"/>
              </a:rPr>
              <a:t>recent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30" dirty="0">
                <a:latin typeface="Arial MT"/>
                <a:cs typeface="Arial MT"/>
              </a:rPr>
              <a:t>area</a:t>
            </a:r>
            <a:r>
              <a:rPr sz="3250" spc="-80" dirty="0">
                <a:latin typeface="Arial MT"/>
                <a:cs typeface="Arial MT"/>
              </a:rPr>
              <a:t> of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20" dirty="0">
                <a:latin typeface="Arial MT"/>
                <a:cs typeface="Arial MT"/>
              </a:rPr>
              <a:t>study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35" dirty="0">
                <a:latin typeface="Arial MT"/>
                <a:cs typeface="Arial MT"/>
              </a:rPr>
              <a:t>has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150" dirty="0">
                <a:latin typeface="Arial MT"/>
                <a:cs typeface="Arial MT"/>
              </a:rPr>
              <a:t>been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spc="-140" dirty="0">
                <a:latin typeface="Arial MT"/>
                <a:cs typeface="Arial MT"/>
              </a:rPr>
              <a:t>machine-</a:t>
            </a:r>
            <a:r>
              <a:rPr sz="3250" spc="-135" dirty="0">
                <a:latin typeface="Arial MT"/>
                <a:cs typeface="Arial MT"/>
              </a:rPr>
              <a:t>generated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90" dirty="0">
                <a:latin typeface="Arial MT"/>
                <a:cs typeface="Arial MT"/>
              </a:rPr>
              <a:t>tweets </a:t>
            </a:r>
            <a:r>
              <a:rPr sz="3250" spc="-140" dirty="0">
                <a:latin typeface="Arial MT"/>
                <a:cs typeface="Arial MT"/>
              </a:rPr>
              <a:t>and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95" dirty="0">
                <a:latin typeface="Arial MT"/>
                <a:cs typeface="Arial MT"/>
              </a:rPr>
              <a:t>their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120" dirty="0">
                <a:latin typeface="Arial MT"/>
                <a:cs typeface="Arial MT"/>
              </a:rPr>
              <a:t>influence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135" dirty="0">
                <a:latin typeface="Arial MT"/>
                <a:cs typeface="Arial MT"/>
              </a:rPr>
              <a:t>on</a:t>
            </a:r>
            <a:r>
              <a:rPr sz="3250" spc="-60" dirty="0">
                <a:latin typeface="Arial MT"/>
                <a:cs typeface="Arial MT"/>
              </a:rPr>
              <a:t> </a:t>
            </a:r>
            <a:r>
              <a:rPr sz="3250" spc="-120" dirty="0">
                <a:latin typeface="Arial MT"/>
                <a:cs typeface="Arial MT"/>
              </a:rPr>
              <a:t>various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125" dirty="0">
                <a:latin typeface="Arial MT"/>
                <a:cs typeface="Arial MT"/>
              </a:rPr>
              <a:t>aspects.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120" dirty="0">
                <a:latin typeface="Arial MT"/>
                <a:cs typeface="Arial MT"/>
              </a:rPr>
              <a:t>This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130" dirty="0">
                <a:latin typeface="Arial MT"/>
                <a:cs typeface="Arial MT"/>
              </a:rPr>
              <a:t>research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140" dirty="0">
                <a:latin typeface="Arial MT"/>
                <a:cs typeface="Arial MT"/>
              </a:rPr>
              <a:t>aims</a:t>
            </a:r>
            <a:r>
              <a:rPr sz="3250" spc="-60" dirty="0">
                <a:latin typeface="Arial MT"/>
                <a:cs typeface="Arial MT"/>
              </a:rPr>
              <a:t> </a:t>
            </a:r>
            <a:r>
              <a:rPr sz="3250" spc="50" dirty="0">
                <a:latin typeface="Arial MT"/>
                <a:cs typeface="Arial MT"/>
              </a:rPr>
              <a:t>to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provide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novel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machine- </a:t>
            </a:r>
            <a:r>
              <a:rPr sz="3250" spc="-30" dirty="0">
                <a:latin typeface="Arial MT"/>
                <a:cs typeface="Arial MT"/>
              </a:rPr>
              <a:t>generated</a:t>
            </a:r>
            <a:r>
              <a:rPr sz="3250" spc="-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misinformation</a:t>
            </a:r>
            <a:r>
              <a:rPr sz="3250" spc="10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datasets</a:t>
            </a:r>
            <a:r>
              <a:rPr sz="3250" spc="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and</a:t>
            </a:r>
            <a:r>
              <a:rPr sz="3250" spc="5" dirty="0">
                <a:latin typeface="Arial MT"/>
                <a:cs typeface="Arial MT"/>
              </a:rPr>
              <a:t> </a:t>
            </a:r>
            <a:r>
              <a:rPr sz="3250" spc="-30" dirty="0">
                <a:latin typeface="Arial MT"/>
                <a:cs typeface="Arial MT"/>
              </a:rPr>
              <a:t>evaluate</a:t>
            </a:r>
            <a:r>
              <a:rPr sz="3250" spc="10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detectors </a:t>
            </a:r>
            <a:r>
              <a:rPr sz="3250" spc="60" dirty="0">
                <a:latin typeface="Arial MT"/>
                <a:cs typeface="Arial MT"/>
              </a:rPr>
              <a:t>for</a:t>
            </a:r>
            <a:r>
              <a:rPr sz="3250" spc="10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classifying</a:t>
            </a:r>
            <a:r>
              <a:rPr sz="3250" spc="10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machine- </a:t>
            </a:r>
            <a:r>
              <a:rPr sz="3250" spc="-30" dirty="0">
                <a:latin typeface="Arial MT"/>
                <a:cs typeface="Arial MT"/>
              </a:rPr>
              <a:t>generated</a:t>
            </a:r>
            <a:r>
              <a:rPr sz="3250" spc="114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misinformation</a:t>
            </a:r>
            <a:r>
              <a:rPr sz="3250" spc="110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tweets.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944390" y="2759113"/>
            <a:ext cx="3695700" cy="2600325"/>
          </a:xfrm>
          <a:custGeom>
            <a:avLst/>
            <a:gdLst/>
            <a:ahLst/>
            <a:cxnLst/>
            <a:rect l="l" t="t" r="r" b="b"/>
            <a:pathLst>
              <a:path w="3695700" h="2600325">
                <a:moveTo>
                  <a:pt x="325040" y="0"/>
                </a:moveTo>
                <a:lnTo>
                  <a:pt x="3370658" y="0"/>
                </a:lnTo>
                <a:lnTo>
                  <a:pt x="3378635" y="194"/>
                </a:lnTo>
                <a:lnTo>
                  <a:pt x="3386608" y="388"/>
                </a:lnTo>
                <a:lnTo>
                  <a:pt x="3394560" y="974"/>
                </a:lnTo>
                <a:lnTo>
                  <a:pt x="3402518" y="1561"/>
                </a:lnTo>
                <a:lnTo>
                  <a:pt x="3410438" y="2538"/>
                </a:lnTo>
                <a:lnTo>
                  <a:pt x="3418352" y="3516"/>
                </a:lnTo>
                <a:lnTo>
                  <a:pt x="3426209" y="4879"/>
                </a:lnTo>
                <a:lnTo>
                  <a:pt x="3434070" y="6245"/>
                </a:lnTo>
                <a:lnTo>
                  <a:pt x="3441856" y="7992"/>
                </a:lnTo>
                <a:lnTo>
                  <a:pt x="3449637" y="9738"/>
                </a:lnTo>
                <a:lnTo>
                  <a:pt x="3487602" y="21868"/>
                </a:lnTo>
                <a:lnTo>
                  <a:pt x="3502341" y="27974"/>
                </a:lnTo>
                <a:lnTo>
                  <a:pt x="3509632" y="31204"/>
                </a:lnTo>
                <a:lnTo>
                  <a:pt x="3544501" y="50508"/>
                </a:lnTo>
                <a:lnTo>
                  <a:pt x="3557766" y="59372"/>
                </a:lnTo>
                <a:lnTo>
                  <a:pt x="3564287" y="63963"/>
                </a:lnTo>
                <a:lnTo>
                  <a:pt x="3594719" y="89698"/>
                </a:lnTo>
                <a:lnTo>
                  <a:pt x="3606000" y="100980"/>
                </a:lnTo>
                <a:lnTo>
                  <a:pt x="3611500" y="106754"/>
                </a:lnTo>
                <a:lnTo>
                  <a:pt x="3636326" y="137932"/>
                </a:lnTo>
                <a:lnTo>
                  <a:pt x="3645189" y="151198"/>
                </a:lnTo>
                <a:lnTo>
                  <a:pt x="3649457" y="157934"/>
                </a:lnTo>
                <a:lnTo>
                  <a:pt x="3667724" y="193357"/>
                </a:lnTo>
                <a:lnTo>
                  <a:pt x="3673829" y="208097"/>
                </a:lnTo>
                <a:lnTo>
                  <a:pt x="3676701" y="215536"/>
                </a:lnTo>
                <a:lnTo>
                  <a:pt x="3687706" y="253842"/>
                </a:lnTo>
                <a:lnTo>
                  <a:pt x="3690818" y="269489"/>
                </a:lnTo>
                <a:lnTo>
                  <a:pt x="3692183" y="277346"/>
                </a:lnTo>
                <a:lnTo>
                  <a:pt x="3695505" y="317063"/>
                </a:lnTo>
                <a:lnTo>
                  <a:pt x="3695699" y="325040"/>
                </a:lnTo>
                <a:lnTo>
                  <a:pt x="3695699" y="2275284"/>
                </a:lnTo>
                <a:lnTo>
                  <a:pt x="3695504" y="2283261"/>
                </a:lnTo>
                <a:lnTo>
                  <a:pt x="3695310" y="2291233"/>
                </a:lnTo>
                <a:lnTo>
                  <a:pt x="3690819" y="2330834"/>
                </a:lnTo>
                <a:lnTo>
                  <a:pt x="3687706" y="2346481"/>
                </a:lnTo>
                <a:lnTo>
                  <a:pt x="3685960" y="2354263"/>
                </a:lnTo>
                <a:lnTo>
                  <a:pt x="3673829" y="2392227"/>
                </a:lnTo>
                <a:lnTo>
                  <a:pt x="3667723" y="2406966"/>
                </a:lnTo>
                <a:lnTo>
                  <a:pt x="3664493" y="2414257"/>
                </a:lnTo>
                <a:lnTo>
                  <a:pt x="3645189" y="2449126"/>
                </a:lnTo>
                <a:lnTo>
                  <a:pt x="3636325" y="2462391"/>
                </a:lnTo>
                <a:lnTo>
                  <a:pt x="3631735" y="2468911"/>
                </a:lnTo>
                <a:lnTo>
                  <a:pt x="3606000" y="2499344"/>
                </a:lnTo>
                <a:lnTo>
                  <a:pt x="3594718" y="2510624"/>
                </a:lnTo>
                <a:lnTo>
                  <a:pt x="3588944" y="2516124"/>
                </a:lnTo>
                <a:lnTo>
                  <a:pt x="3557765" y="2540951"/>
                </a:lnTo>
                <a:lnTo>
                  <a:pt x="3544500" y="2549814"/>
                </a:lnTo>
                <a:lnTo>
                  <a:pt x="3537764" y="2554082"/>
                </a:lnTo>
                <a:lnTo>
                  <a:pt x="3502341" y="2572349"/>
                </a:lnTo>
                <a:lnTo>
                  <a:pt x="3487601" y="2578454"/>
                </a:lnTo>
                <a:lnTo>
                  <a:pt x="3480162" y="2581325"/>
                </a:lnTo>
                <a:lnTo>
                  <a:pt x="3441856" y="2592331"/>
                </a:lnTo>
                <a:lnTo>
                  <a:pt x="3426209" y="2595443"/>
                </a:lnTo>
                <a:lnTo>
                  <a:pt x="3418352" y="2596808"/>
                </a:lnTo>
                <a:lnTo>
                  <a:pt x="3378635" y="2600129"/>
                </a:lnTo>
                <a:lnTo>
                  <a:pt x="3370658" y="2600324"/>
                </a:lnTo>
                <a:lnTo>
                  <a:pt x="325040" y="2600324"/>
                </a:lnTo>
                <a:lnTo>
                  <a:pt x="317063" y="2600129"/>
                </a:lnTo>
                <a:lnTo>
                  <a:pt x="309091" y="2599935"/>
                </a:lnTo>
                <a:lnTo>
                  <a:pt x="301138" y="2599349"/>
                </a:lnTo>
                <a:lnTo>
                  <a:pt x="293180" y="2598762"/>
                </a:lnTo>
                <a:lnTo>
                  <a:pt x="285261" y="2597785"/>
                </a:lnTo>
                <a:lnTo>
                  <a:pt x="277347" y="2596807"/>
                </a:lnTo>
                <a:lnTo>
                  <a:pt x="269490" y="2595443"/>
                </a:lnTo>
                <a:lnTo>
                  <a:pt x="261628" y="2594078"/>
                </a:lnTo>
                <a:lnTo>
                  <a:pt x="253842" y="2592330"/>
                </a:lnTo>
                <a:lnTo>
                  <a:pt x="246061" y="2590585"/>
                </a:lnTo>
                <a:lnTo>
                  <a:pt x="238375" y="2588458"/>
                </a:lnTo>
                <a:lnTo>
                  <a:pt x="230685" y="2586331"/>
                </a:lnTo>
                <a:lnTo>
                  <a:pt x="223108" y="2583827"/>
                </a:lnTo>
                <a:lnTo>
                  <a:pt x="215537" y="2581324"/>
                </a:lnTo>
                <a:lnTo>
                  <a:pt x="208097" y="2578454"/>
                </a:lnTo>
                <a:lnTo>
                  <a:pt x="200653" y="2575581"/>
                </a:lnTo>
                <a:lnTo>
                  <a:pt x="193358" y="2572348"/>
                </a:lnTo>
                <a:lnTo>
                  <a:pt x="186066" y="2569118"/>
                </a:lnTo>
                <a:lnTo>
                  <a:pt x="178943" y="2565534"/>
                </a:lnTo>
                <a:lnTo>
                  <a:pt x="171815" y="2561947"/>
                </a:lnTo>
                <a:lnTo>
                  <a:pt x="164873" y="2558013"/>
                </a:lnTo>
                <a:lnTo>
                  <a:pt x="157935" y="2554081"/>
                </a:lnTo>
                <a:lnTo>
                  <a:pt x="151198" y="2549814"/>
                </a:lnTo>
                <a:lnTo>
                  <a:pt x="144458" y="2545544"/>
                </a:lnTo>
                <a:lnTo>
                  <a:pt x="137933" y="2540951"/>
                </a:lnTo>
                <a:lnTo>
                  <a:pt x="131412" y="2536360"/>
                </a:lnTo>
                <a:lnTo>
                  <a:pt x="125125" y="2531455"/>
                </a:lnTo>
                <a:lnTo>
                  <a:pt x="118834" y="2526546"/>
                </a:lnTo>
                <a:lnTo>
                  <a:pt x="112793" y="2521334"/>
                </a:lnTo>
                <a:lnTo>
                  <a:pt x="106755" y="2516124"/>
                </a:lnTo>
                <a:lnTo>
                  <a:pt x="100980" y="2510625"/>
                </a:lnTo>
                <a:lnTo>
                  <a:pt x="95202" y="2505122"/>
                </a:lnTo>
                <a:lnTo>
                  <a:pt x="89699" y="2499343"/>
                </a:lnTo>
                <a:lnTo>
                  <a:pt x="84199" y="2493569"/>
                </a:lnTo>
                <a:lnTo>
                  <a:pt x="78990" y="2487531"/>
                </a:lnTo>
                <a:lnTo>
                  <a:pt x="73777" y="2481489"/>
                </a:lnTo>
                <a:lnTo>
                  <a:pt x="68869" y="2475198"/>
                </a:lnTo>
                <a:lnTo>
                  <a:pt x="63964" y="2468911"/>
                </a:lnTo>
                <a:lnTo>
                  <a:pt x="59372" y="2462391"/>
                </a:lnTo>
                <a:lnTo>
                  <a:pt x="54779" y="2455866"/>
                </a:lnTo>
                <a:lnTo>
                  <a:pt x="50509" y="2449125"/>
                </a:lnTo>
                <a:lnTo>
                  <a:pt x="46241" y="2442389"/>
                </a:lnTo>
                <a:lnTo>
                  <a:pt x="42310" y="2435451"/>
                </a:lnTo>
                <a:lnTo>
                  <a:pt x="38377" y="2428508"/>
                </a:lnTo>
                <a:lnTo>
                  <a:pt x="34790" y="2421381"/>
                </a:lnTo>
                <a:lnTo>
                  <a:pt x="31205" y="2414257"/>
                </a:lnTo>
                <a:lnTo>
                  <a:pt x="27974" y="2406966"/>
                </a:lnTo>
                <a:lnTo>
                  <a:pt x="24742" y="2399671"/>
                </a:lnTo>
                <a:lnTo>
                  <a:pt x="21869" y="2392227"/>
                </a:lnTo>
                <a:lnTo>
                  <a:pt x="18997" y="2384787"/>
                </a:lnTo>
                <a:lnTo>
                  <a:pt x="16495" y="2377215"/>
                </a:lnTo>
                <a:lnTo>
                  <a:pt x="13992" y="2369639"/>
                </a:lnTo>
                <a:lnTo>
                  <a:pt x="11864" y="2361948"/>
                </a:lnTo>
                <a:lnTo>
                  <a:pt x="9739" y="2354262"/>
                </a:lnTo>
                <a:lnTo>
                  <a:pt x="7992" y="2346481"/>
                </a:lnTo>
                <a:lnTo>
                  <a:pt x="6245" y="2338696"/>
                </a:lnTo>
                <a:lnTo>
                  <a:pt x="4880" y="2330834"/>
                </a:lnTo>
                <a:lnTo>
                  <a:pt x="3515" y="2322977"/>
                </a:lnTo>
                <a:lnTo>
                  <a:pt x="2538" y="2315063"/>
                </a:lnTo>
                <a:lnTo>
                  <a:pt x="1561" y="2307143"/>
                </a:lnTo>
                <a:lnTo>
                  <a:pt x="974" y="2299186"/>
                </a:lnTo>
                <a:lnTo>
                  <a:pt x="389" y="2291233"/>
                </a:lnTo>
                <a:lnTo>
                  <a:pt x="194" y="2283261"/>
                </a:lnTo>
                <a:lnTo>
                  <a:pt x="0" y="2275284"/>
                </a:lnTo>
                <a:lnTo>
                  <a:pt x="0" y="325040"/>
                </a:lnTo>
                <a:lnTo>
                  <a:pt x="194" y="317063"/>
                </a:lnTo>
                <a:lnTo>
                  <a:pt x="388" y="309091"/>
                </a:lnTo>
                <a:lnTo>
                  <a:pt x="974" y="301138"/>
                </a:lnTo>
                <a:lnTo>
                  <a:pt x="1561" y="293180"/>
                </a:lnTo>
                <a:lnTo>
                  <a:pt x="2538" y="285261"/>
                </a:lnTo>
                <a:lnTo>
                  <a:pt x="3516" y="277346"/>
                </a:lnTo>
                <a:lnTo>
                  <a:pt x="4880" y="269489"/>
                </a:lnTo>
                <a:lnTo>
                  <a:pt x="6245" y="261628"/>
                </a:lnTo>
                <a:lnTo>
                  <a:pt x="7992" y="253842"/>
                </a:lnTo>
                <a:lnTo>
                  <a:pt x="9738" y="246061"/>
                </a:lnTo>
                <a:lnTo>
                  <a:pt x="11864" y="238375"/>
                </a:lnTo>
                <a:lnTo>
                  <a:pt x="13992" y="230684"/>
                </a:lnTo>
                <a:lnTo>
                  <a:pt x="16495" y="223108"/>
                </a:lnTo>
                <a:lnTo>
                  <a:pt x="18998" y="215536"/>
                </a:lnTo>
                <a:lnTo>
                  <a:pt x="21868" y="208096"/>
                </a:lnTo>
                <a:lnTo>
                  <a:pt x="24741" y="200652"/>
                </a:lnTo>
                <a:lnTo>
                  <a:pt x="27974" y="193357"/>
                </a:lnTo>
                <a:lnTo>
                  <a:pt x="31204" y="186066"/>
                </a:lnTo>
                <a:lnTo>
                  <a:pt x="34789" y="178943"/>
                </a:lnTo>
                <a:lnTo>
                  <a:pt x="38376" y="171815"/>
                </a:lnTo>
                <a:lnTo>
                  <a:pt x="42310" y="164873"/>
                </a:lnTo>
                <a:lnTo>
                  <a:pt x="46242" y="157935"/>
                </a:lnTo>
                <a:lnTo>
                  <a:pt x="50508" y="151198"/>
                </a:lnTo>
                <a:lnTo>
                  <a:pt x="54778" y="144457"/>
                </a:lnTo>
                <a:lnTo>
                  <a:pt x="59372" y="137933"/>
                </a:lnTo>
                <a:lnTo>
                  <a:pt x="63963" y="131412"/>
                </a:lnTo>
                <a:lnTo>
                  <a:pt x="68868" y="125125"/>
                </a:lnTo>
                <a:lnTo>
                  <a:pt x="73777" y="118834"/>
                </a:lnTo>
                <a:lnTo>
                  <a:pt x="78989" y="112792"/>
                </a:lnTo>
                <a:lnTo>
                  <a:pt x="84199" y="106755"/>
                </a:lnTo>
                <a:lnTo>
                  <a:pt x="89698" y="100980"/>
                </a:lnTo>
                <a:lnTo>
                  <a:pt x="95201" y="95201"/>
                </a:lnTo>
                <a:lnTo>
                  <a:pt x="100980" y="89699"/>
                </a:lnTo>
                <a:lnTo>
                  <a:pt x="106754" y="84199"/>
                </a:lnTo>
                <a:lnTo>
                  <a:pt x="112792" y="78989"/>
                </a:lnTo>
                <a:lnTo>
                  <a:pt x="118834" y="73777"/>
                </a:lnTo>
                <a:lnTo>
                  <a:pt x="125125" y="68868"/>
                </a:lnTo>
                <a:lnTo>
                  <a:pt x="131412" y="63963"/>
                </a:lnTo>
                <a:lnTo>
                  <a:pt x="137932" y="59372"/>
                </a:lnTo>
                <a:lnTo>
                  <a:pt x="144457" y="54778"/>
                </a:lnTo>
                <a:lnTo>
                  <a:pt x="151198" y="50509"/>
                </a:lnTo>
                <a:lnTo>
                  <a:pt x="157934" y="46241"/>
                </a:lnTo>
                <a:lnTo>
                  <a:pt x="193357" y="27974"/>
                </a:lnTo>
                <a:lnTo>
                  <a:pt x="208097" y="21869"/>
                </a:lnTo>
                <a:lnTo>
                  <a:pt x="215536" y="18997"/>
                </a:lnTo>
                <a:lnTo>
                  <a:pt x="253842" y="7992"/>
                </a:lnTo>
                <a:lnTo>
                  <a:pt x="269489" y="4880"/>
                </a:lnTo>
                <a:lnTo>
                  <a:pt x="277346" y="3515"/>
                </a:lnTo>
                <a:lnTo>
                  <a:pt x="317063" y="194"/>
                </a:lnTo>
                <a:lnTo>
                  <a:pt x="325040" y="0"/>
                </a:lnTo>
              </a:path>
            </a:pathLst>
          </a:custGeom>
          <a:ln w="76199">
            <a:solidFill>
              <a:srgbClr val="44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46486" y="3594252"/>
            <a:ext cx="2691765" cy="8712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17475" marR="5080" indent="-105410">
              <a:lnSpc>
                <a:spcPts val="3150"/>
              </a:lnSpc>
              <a:spcBef>
                <a:spcPts val="505"/>
              </a:spcBef>
            </a:pPr>
            <a:r>
              <a:rPr sz="2900" spc="-204" dirty="0">
                <a:solidFill>
                  <a:srgbClr val="121D29"/>
                </a:solidFill>
                <a:latin typeface="Verdana"/>
                <a:cs typeface="Verdana"/>
              </a:rPr>
              <a:t>Generating</a:t>
            </a:r>
            <a:r>
              <a:rPr sz="2900" spc="-220" dirty="0">
                <a:solidFill>
                  <a:srgbClr val="121D29"/>
                </a:solidFill>
                <a:latin typeface="Verdana"/>
                <a:cs typeface="Verdana"/>
              </a:rPr>
              <a:t> </a:t>
            </a:r>
            <a:r>
              <a:rPr sz="2900" spc="-135" dirty="0">
                <a:solidFill>
                  <a:srgbClr val="121D29"/>
                </a:solidFill>
                <a:latin typeface="Verdana"/>
                <a:cs typeface="Verdana"/>
              </a:rPr>
              <a:t>MGT </a:t>
            </a:r>
            <a:r>
              <a:rPr sz="2900" spc="-105" dirty="0">
                <a:solidFill>
                  <a:srgbClr val="121D29"/>
                </a:solidFill>
                <a:latin typeface="Verdana"/>
                <a:cs typeface="Verdana"/>
              </a:rPr>
              <a:t>Misinformation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44219" y="2759113"/>
            <a:ext cx="3571875" cy="2590800"/>
          </a:xfrm>
          <a:custGeom>
            <a:avLst/>
            <a:gdLst/>
            <a:ahLst/>
            <a:cxnLst/>
            <a:rect l="l" t="t" r="r" b="b"/>
            <a:pathLst>
              <a:path w="3571875" h="2590800">
                <a:moveTo>
                  <a:pt x="323849" y="0"/>
                </a:moveTo>
                <a:lnTo>
                  <a:pt x="3248024" y="0"/>
                </a:lnTo>
                <a:lnTo>
                  <a:pt x="3255972" y="194"/>
                </a:lnTo>
                <a:lnTo>
                  <a:pt x="3263915" y="387"/>
                </a:lnTo>
                <a:lnTo>
                  <a:pt x="3303371" y="4862"/>
                </a:lnTo>
                <a:lnTo>
                  <a:pt x="3318961" y="7963"/>
                </a:lnTo>
                <a:lnTo>
                  <a:pt x="3326714" y="9703"/>
                </a:lnTo>
                <a:lnTo>
                  <a:pt x="3364539" y="21789"/>
                </a:lnTo>
                <a:lnTo>
                  <a:pt x="3379224" y="27872"/>
                </a:lnTo>
                <a:lnTo>
                  <a:pt x="3386489" y="31090"/>
                </a:lnTo>
                <a:lnTo>
                  <a:pt x="3421229" y="50323"/>
                </a:lnTo>
                <a:lnTo>
                  <a:pt x="3434445" y="59155"/>
                </a:lnTo>
                <a:lnTo>
                  <a:pt x="3440943" y="63729"/>
                </a:lnTo>
                <a:lnTo>
                  <a:pt x="3471264" y="89370"/>
                </a:lnTo>
                <a:lnTo>
                  <a:pt x="3482503" y="100610"/>
                </a:lnTo>
                <a:lnTo>
                  <a:pt x="3487983" y="106363"/>
                </a:lnTo>
                <a:lnTo>
                  <a:pt x="3512719" y="137427"/>
                </a:lnTo>
                <a:lnTo>
                  <a:pt x="3521549" y="150644"/>
                </a:lnTo>
                <a:lnTo>
                  <a:pt x="3525802" y="157356"/>
                </a:lnTo>
                <a:lnTo>
                  <a:pt x="3544002" y="192649"/>
                </a:lnTo>
                <a:lnTo>
                  <a:pt x="3550084" y="207334"/>
                </a:lnTo>
                <a:lnTo>
                  <a:pt x="3552945" y="214747"/>
                </a:lnTo>
                <a:lnTo>
                  <a:pt x="3563910" y="252912"/>
                </a:lnTo>
                <a:lnTo>
                  <a:pt x="3567011" y="268502"/>
                </a:lnTo>
                <a:lnTo>
                  <a:pt x="3568371" y="276330"/>
                </a:lnTo>
                <a:lnTo>
                  <a:pt x="3571680" y="315902"/>
                </a:lnTo>
                <a:lnTo>
                  <a:pt x="3571874" y="323849"/>
                </a:lnTo>
                <a:lnTo>
                  <a:pt x="3571874" y="2266949"/>
                </a:lnTo>
                <a:lnTo>
                  <a:pt x="3571680" y="2274897"/>
                </a:lnTo>
                <a:lnTo>
                  <a:pt x="3571487" y="2282840"/>
                </a:lnTo>
                <a:lnTo>
                  <a:pt x="3567011" y="2322296"/>
                </a:lnTo>
                <a:lnTo>
                  <a:pt x="3563909" y="2337886"/>
                </a:lnTo>
                <a:lnTo>
                  <a:pt x="3562170" y="2345638"/>
                </a:lnTo>
                <a:lnTo>
                  <a:pt x="3550084" y="2383464"/>
                </a:lnTo>
                <a:lnTo>
                  <a:pt x="3544001" y="2398149"/>
                </a:lnTo>
                <a:lnTo>
                  <a:pt x="3540783" y="2405414"/>
                </a:lnTo>
                <a:lnTo>
                  <a:pt x="3521549" y="2440154"/>
                </a:lnTo>
                <a:lnTo>
                  <a:pt x="3512718" y="2453370"/>
                </a:lnTo>
                <a:lnTo>
                  <a:pt x="3508144" y="2459867"/>
                </a:lnTo>
                <a:lnTo>
                  <a:pt x="3482503" y="2490189"/>
                </a:lnTo>
                <a:lnTo>
                  <a:pt x="3471263" y="2501428"/>
                </a:lnTo>
                <a:lnTo>
                  <a:pt x="3465510" y="2506908"/>
                </a:lnTo>
                <a:lnTo>
                  <a:pt x="3459494" y="2512098"/>
                </a:lnTo>
                <a:lnTo>
                  <a:pt x="3453474" y="2517291"/>
                </a:lnTo>
                <a:lnTo>
                  <a:pt x="3447206" y="2522182"/>
                </a:lnTo>
                <a:lnTo>
                  <a:pt x="3440941" y="2527069"/>
                </a:lnTo>
                <a:lnTo>
                  <a:pt x="3434445" y="2531643"/>
                </a:lnTo>
                <a:lnTo>
                  <a:pt x="3427945" y="2536220"/>
                </a:lnTo>
                <a:lnTo>
                  <a:pt x="3421228" y="2540474"/>
                </a:lnTo>
                <a:lnTo>
                  <a:pt x="3414517" y="2544726"/>
                </a:lnTo>
                <a:lnTo>
                  <a:pt x="3407604" y="2548642"/>
                </a:lnTo>
                <a:lnTo>
                  <a:pt x="3400687" y="2552562"/>
                </a:lnTo>
                <a:lnTo>
                  <a:pt x="3393585" y="2556135"/>
                </a:lnTo>
                <a:lnTo>
                  <a:pt x="3386488" y="2559706"/>
                </a:lnTo>
                <a:lnTo>
                  <a:pt x="3379224" y="2562926"/>
                </a:lnTo>
                <a:lnTo>
                  <a:pt x="3371955" y="2566146"/>
                </a:lnTo>
                <a:lnTo>
                  <a:pt x="3364538" y="2569008"/>
                </a:lnTo>
                <a:lnTo>
                  <a:pt x="3357126" y="2571869"/>
                </a:lnTo>
                <a:lnTo>
                  <a:pt x="3349582" y="2574362"/>
                </a:lnTo>
                <a:lnTo>
                  <a:pt x="3342033" y="2576857"/>
                </a:lnTo>
                <a:lnTo>
                  <a:pt x="3334371" y="2578977"/>
                </a:lnTo>
                <a:lnTo>
                  <a:pt x="3326713" y="2581094"/>
                </a:lnTo>
                <a:lnTo>
                  <a:pt x="3318961" y="2582835"/>
                </a:lnTo>
                <a:lnTo>
                  <a:pt x="3311204" y="2584575"/>
                </a:lnTo>
                <a:lnTo>
                  <a:pt x="3303371" y="2585936"/>
                </a:lnTo>
                <a:lnTo>
                  <a:pt x="3295543" y="2587296"/>
                </a:lnTo>
                <a:lnTo>
                  <a:pt x="3287657" y="2588269"/>
                </a:lnTo>
                <a:lnTo>
                  <a:pt x="3279767" y="2589243"/>
                </a:lnTo>
                <a:lnTo>
                  <a:pt x="3271839" y="2589827"/>
                </a:lnTo>
                <a:lnTo>
                  <a:pt x="3263915" y="2590410"/>
                </a:lnTo>
                <a:lnTo>
                  <a:pt x="3255972" y="2590605"/>
                </a:lnTo>
                <a:lnTo>
                  <a:pt x="3248024" y="2590799"/>
                </a:lnTo>
                <a:lnTo>
                  <a:pt x="323849" y="2590799"/>
                </a:lnTo>
                <a:lnTo>
                  <a:pt x="315902" y="2590605"/>
                </a:lnTo>
                <a:lnTo>
                  <a:pt x="307959" y="2590411"/>
                </a:lnTo>
                <a:lnTo>
                  <a:pt x="300035" y="2589827"/>
                </a:lnTo>
                <a:lnTo>
                  <a:pt x="292106" y="2589243"/>
                </a:lnTo>
                <a:lnTo>
                  <a:pt x="284216" y="2588269"/>
                </a:lnTo>
                <a:lnTo>
                  <a:pt x="276330" y="2587295"/>
                </a:lnTo>
                <a:lnTo>
                  <a:pt x="268502" y="2585936"/>
                </a:lnTo>
                <a:lnTo>
                  <a:pt x="260669" y="2584576"/>
                </a:lnTo>
                <a:lnTo>
                  <a:pt x="252912" y="2582835"/>
                </a:lnTo>
                <a:lnTo>
                  <a:pt x="245160" y="2581096"/>
                </a:lnTo>
                <a:lnTo>
                  <a:pt x="237502" y="2578977"/>
                </a:lnTo>
                <a:lnTo>
                  <a:pt x="229840" y="2576857"/>
                </a:lnTo>
                <a:lnTo>
                  <a:pt x="222291" y="2574363"/>
                </a:lnTo>
                <a:lnTo>
                  <a:pt x="214747" y="2571869"/>
                </a:lnTo>
                <a:lnTo>
                  <a:pt x="207334" y="2569009"/>
                </a:lnTo>
                <a:lnTo>
                  <a:pt x="199917" y="2566147"/>
                </a:lnTo>
                <a:lnTo>
                  <a:pt x="192649" y="2562926"/>
                </a:lnTo>
                <a:lnTo>
                  <a:pt x="185385" y="2559708"/>
                </a:lnTo>
                <a:lnTo>
                  <a:pt x="178287" y="2556136"/>
                </a:lnTo>
                <a:lnTo>
                  <a:pt x="171186" y="2552562"/>
                </a:lnTo>
                <a:lnTo>
                  <a:pt x="164269" y="2548643"/>
                </a:lnTo>
                <a:lnTo>
                  <a:pt x="157356" y="2544726"/>
                </a:lnTo>
                <a:lnTo>
                  <a:pt x="150644" y="2540475"/>
                </a:lnTo>
                <a:lnTo>
                  <a:pt x="143928" y="2536221"/>
                </a:lnTo>
                <a:lnTo>
                  <a:pt x="137427" y="2531644"/>
                </a:lnTo>
                <a:lnTo>
                  <a:pt x="130930" y="2527070"/>
                </a:lnTo>
                <a:lnTo>
                  <a:pt x="124666" y="2522182"/>
                </a:lnTo>
                <a:lnTo>
                  <a:pt x="118399" y="2517292"/>
                </a:lnTo>
                <a:lnTo>
                  <a:pt x="112379" y="2512099"/>
                </a:lnTo>
                <a:lnTo>
                  <a:pt x="106364" y="2506908"/>
                </a:lnTo>
                <a:lnTo>
                  <a:pt x="100610" y="2501429"/>
                </a:lnTo>
                <a:lnTo>
                  <a:pt x="94853" y="2495946"/>
                </a:lnTo>
                <a:lnTo>
                  <a:pt x="89370" y="2490189"/>
                </a:lnTo>
                <a:lnTo>
                  <a:pt x="83890" y="2484435"/>
                </a:lnTo>
                <a:lnTo>
                  <a:pt x="78700" y="2478420"/>
                </a:lnTo>
                <a:lnTo>
                  <a:pt x="73507" y="2472400"/>
                </a:lnTo>
                <a:lnTo>
                  <a:pt x="68616" y="2466132"/>
                </a:lnTo>
                <a:lnTo>
                  <a:pt x="63729" y="2459867"/>
                </a:lnTo>
                <a:lnTo>
                  <a:pt x="59154" y="2453371"/>
                </a:lnTo>
                <a:lnTo>
                  <a:pt x="54577" y="2446870"/>
                </a:lnTo>
                <a:lnTo>
                  <a:pt x="50324" y="2440154"/>
                </a:lnTo>
                <a:lnTo>
                  <a:pt x="46071" y="2433443"/>
                </a:lnTo>
                <a:lnTo>
                  <a:pt x="42154" y="2426530"/>
                </a:lnTo>
                <a:lnTo>
                  <a:pt x="38235" y="2419613"/>
                </a:lnTo>
                <a:lnTo>
                  <a:pt x="34661" y="2412511"/>
                </a:lnTo>
                <a:lnTo>
                  <a:pt x="31090" y="2405414"/>
                </a:lnTo>
                <a:lnTo>
                  <a:pt x="27871" y="2398150"/>
                </a:lnTo>
                <a:lnTo>
                  <a:pt x="24650" y="2390881"/>
                </a:lnTo>
                <a:lnTo>
                  <a:pt x="21788" y="2383464"/>
                </a:lnTo>
                <a:lnTo>
                  <a:pt x="18927" y="2376052"/>
                </a:lnTo>
                <a:lnTo>
                  <a:pt x="16434" y="2368508"/>
                </a:lnTo>
                <a:lnTo>
                  <a:pt x="13940" y="2360959"/>
                </a:lnTo>
                <a:lnTo>
                  <a:pt x="11820" y="2353297"/>
                </a:lnTo>
                <a:lnTo>
                  <a:pt x="9703" y="2345639"/>
                </a:lnTo>
                <a:lnTo>
                  <a:pt x="7962" y="2337886"/>
                </a:lnTo>
                <a:lnTo>
                  <a:pt x="6222" y="2330129"/>
                </a:lnTo>
                <a:lnTo>
                  <a:pt x="4862" y="2322296"/>
                </a:lnTo>
                <a:lnTo>
                  <a:pt x="3502" y="2314468"/>
                </a:lnTo>
                <a:lnTo>
                  <a:pt x="2529" y="2306583"/>
                </a:lnTo>
                <a:lnTo>
                  <a:pt x="1555" y="2298692"/>
                </a:lnTo>
                <a:lnTo>
                  <a:pt x="971" y="2290764"/>
                </a:lnTo>
                <a:lnTo>
                  <a:pt x="388" y="2282840"/>
                </a:lnTo>
                <a:lnTo>
                  <a:pt x="193" y="2274897"/>
                </a:lnTo>
                <a:lnTo>
                  <a:pt x="0" y="2266949"/>
                </a:lnTo>
                <a:lnTo>
                  <a:pt x="0" y="323849"/>
                </a:lnTo>
                <a:lnTo>
                  <a:pt x="194" y="315902"/>
                </a:lnTo>
                <a:lnTo>
                  <a:pt x="387" y="307959"/>
                </a:lnTo>
                <a:lnTo>
                  <a:pt x="4861" y="268502"/>
                </a:lnTo>
                <a:lnTo>
                  <a:pt x="7963" y="252912"/>
                </a:lnTo>
                <a:lnTo>
                  <a:pt x="9702" y="245159"/>
                </a:lnTo>
                <a:lnTo>
                  <a:pt x="11820" y="237502"/>
                </a:lnTo>
                <a:lnTo>
                  <a:pt x="13940" y="229839"/>
                </a:lnTo>
                <a:lnTo>
                  <a:pt x="16434" y="222291"/>
                </a:lnTo>
                <a:lnTo>
                  <a:pt x="18928" y="214747"/>
                </a:lnTo>
                <a:lnTo>
                  <a:pt x="21788" y="207334"/>
                </a:lnTo>
                <a:lnTo>
                  <a:pt x="24650" y="199917"/>
                </a:lnTo>
                <a:lnTo>
                  <a:pt x="27871" y="192649"/>
                </a:lnTo>
                <a:lnTo>
                  <a:pt x="31089" y="185384"/>
                </a:lnTo>
                <a:lnTo>
                  <a:pt x="50323" y="150644"/>
                </a:lnTo>
                <a:lnTo>
                  <a:pt x="59154" y="137427"/>
                </a:lnTo>
                <a:lnTo>
                  <a:pt x="63728" y="130930"/>
                </a:lnTo>
                <a:lnTo>
                  <a:pt x="89370" y="100609"/>
                </a:lnTo>
                <a:lnTo>
                  <a:pt x="100610" y="89370"/>
                </a:lnTo>
                <a:lnTo>
                  <a:pt x="106363" y="83890"/>
                </a:lnTo>
                <a:lnTo>
                  <a:pt x="137427" y="59154"/>
                </a:lnTo>
                <a:lnTo>
                  <a:pt x="150644" y="50323"/>
                </a:lnTo>
                <a:lnTo>
                  <a:pt x="157356" y="46071"/>
                </a:lnTo>
                <a:lnTo>
                  <a:pt x="192649" y="27871"/>
                </a:lnTo>
                <a:lnTo>
                  <a:pt x="207334" y="21789"/>
                </a:lnTo>
                <a:lnTo>
                  <a:pt x="214747" y="18928"/>
                </a:lnTo>
                <a:lnTo>
                  <a:pt x="252912" y="7962"/>
                </a:lnTo>
                <a:lnTo>
                  <a:pt x="268502" y="4862"/>
                </a:lnTo>
                <a:lnTo>
                  <a:pt x="276330" y="3502"/>
                </a:lnTo>
                <a:lnTo>
                  <a:pt x="315902" y="193"/>
                </a:lnTo>
                <a:lnTo>
                  <a:pt x="323849" y="0"/>
                </a:lnTo>
              </a:path>
            </a:pathLst>
          </a:custGeom>
          <a:ln w="76199">
            <a:solidFill>
              <a:srgbClr val="44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03156" y="3584727"/>
            <a:ext cx="2559050" cy="8712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621665" marR="5080" indent="-609600">
              <a:lnSpc>
                <a:spcPts val="3150"/>
              </a:lnSpc>
              <a:spcBef>
                <a:spcPts val="505"/>
              </a:spcBef>
            </a:pPr>
            <a:r>
              <a:rPr sz="2900" spc="-229" dirty="0">
                <a:solidFill>
                  <a:srgbClr val="121D29"/>
                </a:solidFill>
                <a:latin typeface="Verdana"/>
                <a:cs typeface="Verdana"/>
              </a:rPr>
              <a:t>Generated</a:t>
            </a:r>
            <a:r>
              <a:rPr sz="2900" spc="-185" dirty="0">
                <a:solidFill>
                  <a:srgbClr val="121D29"/>
                </a:solidFill>
                <a:latin typeface="Verdana"/>
                <a:cs typeface="Verdana"/>
              </a:rPr>
              <a:t> </a:t>
            </a:r>
            <a:r>
              <a:rPr sz="2900" spc="-285" dirty="0">
                <a:solidFill>
                  <a:srgbClr val="121D29"/>
                </a:solidFill>
                <a:latin typeface="Verdana"/>
                <a:cs typeface="Verdana"/>
              </a:rPr>
              <a:t>Data </a:t>
            </a:r>
            <a:r>
              <a:rPr sz="2900" spc="-10" dirty="0">
                <a:solidFill>
                  <a:srgbClr val="121D29"/>
                </a:solidFill>
                <a:latin typeface="Verdana"/>
                <a:cs typeface="Verdana"/>
              </a:rPr>
              <a:t>Analysis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56753" y="2753104"/>
            <a:ext cx="3695700" cy="2600325"/>
          </a:xfrm>
          <a:custGeom>
            <a:avLst/>
            <a:gdLst/>
            <a:ahLst/>
            <a:cxnLst/>
            <a:rect l="l" t="t" r="r" b="b"/>
            <a:pathLst>
              <a:path w="3695700" h="2600325">
                <a:moveTo>
                  <a:pt x="325040" y="0"/>
                </a:moveTo>
                <a:lnTo>
                  <a:pt x="3370658" y="0"/>
                </a:lnTo>
                <a:lnTo>
                  <a:pt x="3378635" y="195"/>
                </a:lnTo>
                <a:lnTo>
                  <a:pt x="3386607" y="389"/>
                </a:lnTo>
                <a:lnTo>
                  <a:pt x="3426209" y="4880"/>
                </a:lnTo>
                <a:lnTo>
                  <a:pt x="3441856" y="7992"/>
                </a:lnTo>
                <a:lnTo>
                  <a:pt x="3449637" y="9738"/>
                </a:lnTo>
                <a:lnTo>
                  <a:pt x="3487601" y="21869"/>
                </a:lnTo>
                <a:lnTo>
                  <a:pt x="3502341" y="27975"/>
                </a:lnTo>
                <a:lnTo>
                  <a:pt x="3509632" y="31205"/>
                </a:lnTo>
                <a:lnTo>
                  <a:pt x="3544500" y="50509"/>
                </a:lnTo>
                <a:lnTo>
                  <a:pt x="3557765" y="59373"/>
                </a:lnTo>
                <a:lnTo>
                  <a:pt x="3564286" y="63963"/>
                </a:lnTo>
                <a:lnTo>
                  <a:pt x="3594719" y="89698"/>
                </a:lnTo>
                <a:lnTo>
                  <a:pt x="3605999" y="100980"/>
                </a:lnTo>
                <a:lnTo>
                  <a:pt x="3611499" y="106754"/>
                </a:lnTo>
                <a:lnTo>
                  <a:pt x="3616709" y="112792"/>
                </a:lnTo>
                <a:lnTo>
                  <a:pt x="3621921" y="118834"/>
                </a:lnTo>
                <a:lnTo>
                  <a:pt x="3626830" y="125125"/>
                </a:lnTo>
                <a:lnTo>
                  <a:pt x="3631735" y="131412"/>
                </a:lnTo>
                <a:lnTo>
                  <a:pt x="3636326" y="137932"/>
                </a:lnTo>
                <a:lnTo>
                  <a:pt x="3640920" y="144457"/>
                </a:lnTo>
                <a:lnTo>
                  <a:pt x="3645189" y="151198"/>
                </a:lnTo>
                <a:lnTo>
                  <a:pt x="3649457" y="157934"/>
                </a:lnTo>
                <a:lnTo>
                  <a:pt x="3667724" y="193357"/>
                </a:lnTo>
                <a:lnTo>
                  <a:pt x="3673829" y="208097"/>
                </a:lnTo>
                <a:lnTo>
                  <a:pt x="3676701" y="215536"/>
                </a:lnTo>
                <a:lnTo>
                  <a:pt x="3687706" y="253842"/>
                </a:lnTo>
                <a:lnTo>
                  <a:pt x="3690818" y="269490"/>
                </a:lnTo>
                <a:lnTo>
                  <a:pt x="3692183" y="277346"/>
                </a:lnTo>
                <a:lnTo>
                  <a:pt x="3695504" y="317063"/>
                </a:lnTo>
                <a:lnTo>
                  <a:pt x="3695699" y="2275284"/>
                </a:lnTo>
                <a:lnTo>
                  <a:pt x="3695504" y="2283261"/>
                </a:lnTo>
                <a:lnTo>
                  <a:pt x="3695309" y="2291233"/>
                </a:lnTo>
                <a:lnTo>
                  <a:pt x="3690818" y="2330834"/>
                </a:lnTo>
                <a:lnTo>
                  <a:pt x="3687706" y="2346481"/>
                </a:lnTo>
                <a:lnTo>
                  <a:pt x="3685960" y="2354263"/>
                </a:lnTo>
                <a:lnTo>
                  <a:pt x="3673829" y="2392227"/>
                </a:lnTo>
                <a:lnTo>
                  <a:pt x="3667723" y="2406966"/>
                </a:lnTo>
                <a:lnTo>
                  <a:pt x="3664493" y="2414257"/>
                </a:lnTo>
                <a:lnTo>
                  <a:pt x="3645189" y="2449126"/>
                </a:lnTo>
                <a:lnTo>
                  <a:pt x="3636326" y="2462391"/>
                </a:lnTo>
                <a:lnTo>
                  <a:pt x="3631735" y="2468912"/>
                </a:lnTo>
                <a:lnTo>
                  <a:pt x="3606000" y="2499344"/>
                </a:lnTo>
                <a:lnTo>
                  <a:pt x="3594718" y="2510624"/>
                </a:lnTo>
                <a:lnTo>
                  <a:pt x="3588944" y="2516125"/>
                </a:lnTo>
                <a:lnTo>
                  <a:pt x="3557765" y="2540951"/>
                </a:lnTo>
                <a:lnTo>
                  <a:pt x="3544500" y="2549814"/>
                </a:lnTo>
                <a:lnTo>
                  <a:pt x="3537763" y="2554082"/>
                </a:lnTo>
                <a:lnTo>
                  <a:pt x="3502341" y="2572349"/>
                </a:lnTo>
                <a:lnTo>
                  <a:pt x="3487601" y="2578454"/>
                </a:lnTo>
                <a:lnTo>
                  <a:pt x="3480161" y="2581325"/>
                </a:lnTo>
                <a:lnTo>
                  <a:pt x="3472590" y="2583827"/>
                </a:lnTo>
                <a:lnTo>
                  <a:pt x="3465013" y="2586331"/>
                </a:lnTo>
                <a:lnTo>
                  <a:pt x="3457323" y="2588458"/>
                </a:lnTo>
                <a:lnTo>
                  <a:pt x="3449637" y="2590584"/>
                </a:lnTo>
                <a:lnTo>
                  <a:pt x="3441856" y="2592331"/>
                </a:lnTo>
                <a:lnTo>
                  <a:pt x="3434070" y="2594078"/>
                </a:lnTo>
                <a:lnTo>
                  <a:pt x="3426208" y="2595443"/>
                </a:lnTo>
                <a:lnTo>
                  <a:pt x="3418352" y="2596808"/>
                </a:lnTo>
                <a:lnTo>
                  <a:pt x="3410437" y="2597785"/>
                </a:lnTo>
                <a:lnTo>
                  <a:pt x="3402518" y="2598762"/>
                </a:lnTo>
                <a:lnTo>
                  <a:pt x="3394560" y="2599349"/>
                </a:lnTo>
                <a:lnTo>
                  <a:pt x="3386607" y="2599934"/>
                </a:lnTo>
                <a:lnTo>
                  <a:pt x="3378635" y="2600129"/>
                </a:lnTo>
                <a:lnTo>
                  <a:pt x="3370658" y="2600324"/>
                </a:lnTo>
                <a:lnTo>
                  <a:pt x="325040" y="2600324"/>
                </a:lnTo>
                <a:lnTo>
                  <a:pt x="317063" y="2600129"/>
                </a:lnTo>
                <a:lnTo>
                  <a:pt x="309091" y="2599935"/>
                </a:lnTo>
                <a:lnTo>
                  <a:pt x="301138" y="2599349"/>
                </a:lnTo>
                <a:lnTo>
                  <a:pt x="293180" y="2598763"/>
                </a:lnTo>
                <a:lnTo>
                  <a:pt x="285261" y="2597785"/>
                </a:lnTo>
                <a:lnTo>
                  <a:pt x="277346" y="2596807"/>
                </a:lnTo>
                <a:lnTo>
                  <a:pt x="269489" y="2595444"/>
                </a:lnTo>
                <a:lnTo>
                  <a:pt x="261628" y="2594078"/>
                </a:lnTo>
                <a:lnTo>
                  <a:pt x="253842" y="2592331"/>
                </a:lnTo>
                <a:lnTo>
                  <a:pt x="246061" y="2590585"/>
                </a:lnTo>
                <a:lnTo>
                  <a:pt x="238375" y="2588459"/>
                </a:lnTo>
                <a:lnTo>
                  <a:pt x="230684" y="2586332"/>
                </a:lnTo>
                <a:lnTo>
                  <a:pt x="223108" y="2583828"/>
                </a:lnTo>
                <a:lnTo>
                  <a:pt x="215536" y="2581325"/>
                </a:lnTo>
                <a:lnTo>
                  <a:pt x="208096" y="2578455"/>
                </a:lnTo>
                <a:lnTo>
                  <a:pt x="200652" y="2575582"/>
                </a:lnTo>
                <a:lnTo>
                  <a:pt x="193357" y="2572349"/>
                </a:lnTo>
                <a:lnTo>
                  <a:pt x="186066" y="2569119"/>
                </a:lnTo>
                <a:lnTo>
                  <a:pt x="178943" y="2565534"/>
                </a:lnTo>
                <a:lnTo>
                  <a:pt x="171815" y="2561947"/>
                </a:lnTo>
                <a:lnTo>
                  <a:pt x="164873" y="2558013"/>
                </a:lnTo>
                <a:lnTo>
                  <a:pt x="157935" y="2554081"/>
                </a:lnTo>
                <a:lnTo>
                  <a:pt x="151198" y="2549815"/>
                </a:lnTo>
                <a:lnTo>
                  <a:pt x="144457" y="2545545"/>
                </a:lnTo>
                <a:lnTo>
                  <a:pt x="137933" y="2540951"/>
                </a:lnTo>
                <a:lnTo>
                  <a:pt x="131412" y="2536361"/>
                </a:lnTo>
                <a:lnTo>
                  <a:pt x="125125" y="2531455"/>
                </a:lnTo>
                <a:lnTo>
                  <a:pt x="118834" y="2526546"/>
                </a:lnTo>
                <a:lnTo>
                  <a:pt x="112792" y="2521334"/>
                </a:lnTo>
                <a:lnTo>
                  <a:pt x="106754" y="2516124"/>
                </a:lnTo>
                <a:lnTo>
                  <a:pt x="100979" y="2510625"/>
                </a:lnTo>
                <a:lnTo>
                  <a:pt x="95201" y="2505122"/>
                </a:lnTo>
                <a:lnTo>
                  <a:pt x="89699" y="2499344"/>
                </a:lnTo>
                <a:lnTo>
                  <a:pt x="84198" y="2493569"/>
                </a:lnTo>
                <a:lnTo>
                  <a:pt x="78989" y="2487531"/>
                </a:lnTo>
                <a:lnTo>
                  <a:pt x="73777" y="2481490"/>
                </a:lnTo>
                <a:lnTo>
                  <a:pt x="68868" y="2475199"/>
                </a:lnTo>
                <a:lnTo>
                  <a:pt x="63963" y="2468911"/>
                </a:lnTo>
                <a:lnTo>
                  <a:pt x="59371" y="2462391"/>
                </a:lnTo>
                <a:lnTo>
                  <a:pt x="54778" y="2455867"/>
                </a:lnTo>
                <a:lnTo>
                  <a:pt x="50508" y="2449126"/>
                </a:lnTo>
                <a:lnTo>
                  <a:pt x="46240" y="2442390"/>
                </a:lnTo>
                <a:lnTo>
                  <a:pt x="42309" y="2435451"/>
                </a:lnTo>
                <a:lnTo>
                  <a:pt x="38375" y="2428509"/>
                </a:lnTo>
                <a:lnTo>
                  <a:pt x="34788" y="2421381"/>
                </a:lnTo>
                <a:lnTo>
                  <a:pt x="31204" y="2414257"/>
                </a:lnTo>
                <a:lnTo>
                  <a:pt x="27973" y="2406967"/>
                </a:lnTo>
                <a:lnTo>
                  <a:pt x="24741" y="2399671"/>
                </a:lnTo>
                <a:lnTo>
                  <a:pt x="21868" y="2392227"/>
                </a:lnTo>
                <a:lnTo>
                  <a:pt x="18997" y="2384787"/>
                </a:lnTo>
                <a:lnTo>
                  <a:pt x="16494" y="2377216"/>
                </a:lnTo>
                <a:lnTo>
                  <a:pt x="13991" y="2369639"/>
                </a:lnTo>
                <a:lnTo>
                  <a:pt x="11863" y="2361949"/>
                </a:lnTo>
                <a:lnTo>
                  <a:pt x="9738" y="2354263"/>
                </a:lnTo>
                <a:lnTo>
                  <a:pt x="7991" y="2346482"/>
                </a:lnTo>
                <a:lnTo>
                  <a:pt x="6244" y="2338696"/>
                </a:lnTo>
                <a:lnTo>
                  <a:pt x="4879" y="2330834"/>
                </a:lnTo>
                <a:lnTo>
                  <a:pt x="3514" y="2322977"/>
                </a:lnTo>
                <a:lnTo>
                  <a:pt x="2537" y="2315063"/>
                </a:lnTo>
                <a:lnTo>
                  <a:pt x="1560" y="2307143"/>
                </a:lnTo>
                <a:lnTo>
                  <a:pt x="974" y="2299186"/>
                </a:lnTo>
                <a:lnTo>
                  <a:pt x="389" y="2291233"/>
                </a:lnTo>
                <a:lnTo>
                  <a:pt x="194" y="2283261"/>
                </a:lnTo>
                <a:lnTo>
                  <a:pt x="0" y="2275284"/>
                </a:lnTo>
                <a:lnTo>
                  <a:pt x="0" y="325040"/>
                </a:lnTo>
                <a:lnTo>
                  <a:pt x="194" y="317063"/>
                </a:lnTo>
                <a:lnTo>
                  <a:pt x="388" y="309091"/>
                </a:lnTo>
                <a:lnTo>
                  <a:pt x="4878" y="269489"/>
                </a:lnTo>
                <a:lnTo>
                  <a:pt x="7991" y="253842"/>
                </a:lnTo>
                <a:lnTo>
                  <a:pt x="9737" y="246061"/>
                </a:lnTo>
                <a:lnTo>
                  <a:pt x="21868" y="208096"/>
                </a:lnTo>
                <a:lnTo>
                  <a:pt x="27974" y="193357"/>
                </a:lnTo>
                <a:lnTo>
                  <a:pt x="31204" y="186066"/>
                </a:lnTo>
                <a:lnTo>
                  <a:pt x="50508" y="151197"/>
                </a:lnTo>
                <a:lnTo>
                  <a:pt x="59372" y="137933"/>
                </a:lnTo>
                <a:lnTo>
                  <a:pt x="63962" y="131412"/>
                </a:lnTo>
                <a:lnTo>
                  <a:pt x="89698" y="100979"/>
                </a:lnTo>
                <a:lnTo>
                  <a:pt x="100980" y="89699"/>
                </a:lnTo>
                <a:lnTo>
                  <a:pt x="106754" y="84198"/>
                </a:lnTo>
                <a:lnTo>
                  <a:pt x="137932" y="59372"/>
                </a:lnTo>
                <a:lnTo>
                  <a:pt x="151198" y="50509"/>
                </a:lnTo>
                <a:lnTo>
                  <a:pt x="157934" y="46241"/>
                </a:lnTo>
                <a:lnTo>
                  <a:pt x="193357" y="27973"/>
                </a:lnTo>
                <a:lnTo>
                  <a:pt x="208096" y="21869"/>
                </a:lnTo>
                <a:lnTo>
                  <a:pt x="215536" y="18997"/>
                </a:lnTo>
                <a:lnTo>
                  <a:pt x="253842" y="7992"/>
                </a:lnTo>
                <a:lnTo>
                  <a:pt x="269489" y="4880"/>
                </a:lnTo>
                <a:lnTo>
                  <a:pt x="277346" y="3515"/>
                </a:lnTo>
                <a:lnTo>
                  <a:pt x="317063" y="194"/>
                </a:lnTo>
                <a:lnTo>
                  <a:pt x="325040" y="0"/>
                </a:lnTo>
              </a:path>
            </a:pathLst>
          </a:custGeom>
          <a:ln w="76199">
            <a:solidFill>
              <a:srgbClr val="44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16148" y="3588243"/>
            <a:ext cx="2482215" cy="8712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indent="19050">
              <a:lnSpc>
                <a:spcPts val="3150"/>
              </a:lnSpc>
              <a:spcBef>
                <a:spcPts val="505"/>
              </a:spcBef>
            </a:pPr>
            <a:r>
              <a:rPr sz="2900" spc="-204" dirty="0">
                <a:solidFill>
                  <a:srgbClr val="121D29"/>
                </a:solidFill>
                <a:latin typeface="Verdana"/>
                <a:cs typeface="Verdana"/>
              </a:rPr>
              <a:t>Detecting </a:t>
            </a:r>
            <a:r>
              <a:rPr sz="2900" spc="-85" dirty="0">
                <a:solidFill>
                  <a:srgbClr val="121D29"/>
                </a:solidFill>
                <a:latin typeface="Verdana"/>
                <a:cs typeface="Verdana"/>
              </a:rPr>
              <a:t>MGT </a:t>
            </a:r>
            <a:r>
              <a:rPr sz="2900" spc="-165" dirty="0">
                <a:solidFill>
                  <a:srgbClr val="121D29"/>
                </a:solidFill>
                <a:latin typeface="Verdana"/>
                <a:cs typeface="Verdana"/>
              </a:rPr>
              <a:t>Misinformation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616908" y="2743337"/>
            <a:ext cx="3695700" cy="2600325"/>
          </a:xfrm>
          <a:custGeom>
            <a:avLst/>
            <a:gdLst/>
            <a:ahLst/>
            <a:cxnLst/>
            <a:rect l="l" t="t" r="r" b="b"/>
            <a:pathLst>
              <a:path w="3695700" h="2600325">
                <a:moveTo>
                  <a:pt x="325040" y="0"/>
                </a:moveTo>
                <a:lnTo>
                  <a:pt x="3370658" y="0"/>
                </a:lnTo>
                <a:lnTo>
                  <a:pt x="3378635" y="194"/>
                </a:lnTo>
                <a:lnTo>
                  <a:pt x="3386607" y="388"/>
                </a:lnTo>
                <a:lnTo>
                  <a:pt x="3426209" y="4880"/>
                </a:lnTo>
                <a:lnTo>
                  <a:pt x="3441856" y="7993"/>
                </a:lnTo>
                <a:lnTo>
                  <a:pt x="3449637" y="9738"/>
                </a:lnTo>
                <a:lnTo>
                  <a:pt x="3487601" y="21869"/>
                </a:lnTo>
                <a:lnTo>
                  <a:pt x="3502341" y="27975"/>
                </a:lnTo>
                <a:lnTo>
                  <a:pt x="3509632" y="31205"/>
                </a:lnTo>
                <a:lnTo>
                  <a:pt x="3544500" y="50509"/>
                </a:lnTo>
                <a:lnTo>
                  <a:pt x="3557765" y="59373"/>
                </a:lnTo>
                <a:lnTo>
                  <a:pt x="3564286" y="63963"/>
                </a:lnTo>
                <a:lnTo>
                  <a:pt x="3594718" y="89699"/>
                </a:lnTo>
                <a:lnTo>
                  <a:pt x="3605999" y="100980"/>
                </a:lnTo>
                <a:lnTo>
                  <a:pt x="3611499" y="106755"/>
                </a:lnTo>
                <a:lnTo>
                  <a:pt x="3636326" y="137933"/>
                </a:lnTo>
                <a:lnTo>
                  <a:pt x="3645189" y="151198"/>
                </a:lnTo>
                <a:lnTo>
                  <a:pt x="3649456" y="157935"/>
                </a:lnTo>
                <a:lnTo>
                  <a:pt x="3667722" y="193358"/>
                </a:lnTo>
                <a:lnTo>
                  <a:pt x="3673827" y="208097"/>
                </a:lnTo>
                <a:lnTo>
                  <a:pt x="3676698" y="215537"/>
                </a:lnTo>
                <a:lnTo>
                  <a:pt x="3687704" y="253842"/>
                </a:lnTo>
                <a:lnTo>
                  <a:pt x="3690817" y="269490"/>
                </a:lnTo>
                <a:lnTo>
                  <a:pt x="3692183" y="277346"/>
                </a:lnTo>
                <a:lnTo>
                  <a:pt x="3695505" y="317063"/>
                </a:lnTo>
                <a:lnTo>
                  <a:pt x="3695699" y="325040"/>
                </a:lnTo>
                <a:lnTo>
                  <a:pt x="3695699" y="2275284"/>
                </a:lnTo>
                <a:lnTo>
                  <a:pt x="3695504" y="2283261"/>
                </a:lnTo>
                <a:lnTo>
                  <a:pt x="3695310" y="2291233"/>
                </a:lnTo>
                <a:lnTo>
                  <a:pt x="3690817" y="2330834"/>
                </a:lnTo>
                <a:lnTo>
                  <a:pt x="3687704" y="2346481"/>
                </a:lnTo>
                <a:lnTo>
                  <a:pt x="3685958" y="2354262"/>
                </a:lnTo>
                <a:lnTo>
                  <a:pt x="3683832" y="2361948"/>
                </a:lnTo>
                <a:lnTo>
                  <a:pt x="3681704" y="2369638"/>
                </a:lnTo>
                <a:lnTo>
                  <a:pt x="3679200" y="2377215"/>
                </a:lnTo>
                <a:lnTo>
                  <a:pt x="3676697" y="2384786"/>
                </a:lnTo>
                <a:lnTo>
                  <a:pt x="3673827" y="2392226"/>
                </a:lnTo>
                <a:lnTo>
                  <a:pt x="3670954" y="2399670"/>
                </a:lnTo>
                <a:lnTo>
                  <a:pt x="3667721" y="2406965"/>
                </a:lnTo>
                <a:lnTo>
                  <a:pt x="3664492" y="2414257"/>
                </a:lnTo>
                <a:lnTo>
                  <a:pt x="3645188" y="2449125"/>
                </a:lnTo>
                <a:lnTo>
                  <a:pt x="3636325" y="2462390"/>
                </a:lnTo>
                <a:lnTo>
                  <a:pt x="3631734" y="2468911"/>
                </a:lnTo>
                <a:lnTo>
                  <a:pt x="3605999" y="2499343"/>
                </a:lnTo>
                <a:lnTo>
                  <a:pt x="3594717" y="2510624"/>
                </a:lnTo>
                <a:lnTo>
                  <a:pt x="3588943" y="2516124"/>
                </a:lnTo>
                <a:lnTo>
                  <a:pt x="3582905" y="2521333"/>
                </a:lnTo>
                <a:lnTo>
                  <a:pt x="3576864" y="2526545"/>
                </a:lnTo>
                <a:lnTo>
                  <a:pt x="3570573" y="2531454"/>
                </a:lnTo>
                <a:lnTo>
                  <a:pt x="3564285" y="2536359"/>
                </a:lnTo>
                <a:lnTo>
                  <a:pt x="3557765" y="2540950"/>
                </a:lnTo>
                <a:lnTo>
                  <a:pt x="3551240" y="2545544"/>
                </a:lnTo>
                <a:lnTo>
                  <a:pt x="3544499" y="2549813"/>
                </a:lnTo>
                <a:lnTo>
                  <a:pt x="3537763" y="2554081"/>
                </a:lnTo>
                <a:lnTo>
                  <a:pt x="3530825" y="2558012"/>
                </a:lnTo>
                <a:lnTo>
                  <a:pt x="3523882" y="2561946"/>
                </a:lnTo>
                <a:lnTo>
                  <a:pt x="3516755" y="2565533"/>
                </a:lnTo>
                <a:lnTo>
                  <a:pt x="3509631" y="2569117"/>
                </a:lnTo>
                <a:lnTo>
                  <a:pt x="3502341" y="2572349"/>
                </a:lnTo>
                <a:lnTo>
                  <a:pt x="3495045" y="2575581"/>
                </a:lnTo>
                <a:lnTo>
                  <a:pt x="3487601" y="2578454"/>
                </a:lnTo>
                <a:lnTo>
                  <a:pt x="3480161" y="2581325"/>
                </a:lnTo>
                <a:lnTo>
                  <a:pt x="3472590" y="2583827"/>
                </a:lnTo>
                <a:lnTo>
                  <a:pt x="3465013" y="2586331"/>
                </a:lnTo>
                <a:lnTo>
                  <a:pt x="3457323" y="2588459"/>
                </a:lnTo>
                <a:lnTo>
                  <a:pt x="3449637" y="2590584"/>
                </a:lnTo>
                <a:lnTo>
                  <a:pt x="3441856" y="2592331"/>
                </a:lnTo>
                <a:lnTo>
                  <a:pt x="3434070" y="2594079"/>
                </a:lnTo>
                <a:lnTo>
                  <a:pt x="3426208" y="2595443"/>
                </a:lnTo>
                <a:lnTo>
                  <a:pt x="3418352" y="2596808"/>
                </a:lnTo>
                <a:lnTo>
                  <a:pt x="3378635" y="2600130"/>
                </a:lnTo>
                <a:lnTo>
                  <a:pt x="3370658" y="2600324"/>
                </a:lnTo>
                <a:lnTo>
                  <a:pt x="325040" y="2600324"/>
                </a:lnTo>
                <a:lnTo>
                  <a:pt x="317063" y="2600129"/>
                </a:lnTo>
                <a:lnTo>
                  <a:pt x="309091" y="2599935"/>
                </a:lnTo>
                <a:lnTo>
                  <a:pt x="301138" y="2599349"/>
                </a:lnTo>
                <a:lnTo>
                  <a:pt x="293180" y="2598763"/>
                </a:lnTo>
                <a:lnTo>
                  <a:pt x="285261" y="2597785"/>
                </a:lnTo>
                <a:lnTo>
                  <a:pt x="277346" y="2596808"/>
                </a:lnTo>
                <a:lnTo>
                  <a:pt x="269489" y="2595444"/>
                </a:lnTo>
                <a:lnTo>
                  <a:pt x="261628" y="2594079"/>
                </a:lnTo>
                <a:lnTo>
                  <a:pt x="253842" y="2592331"/>
                </a:lnTo>
                <a:lnTo>
                  <a:pt x="246061" y="2590585"/>
                </a:lnTo>
                <a:lnTo>
                  <a:pt x="238375" y="2588459"/>
                </a:lnTo>
                <a:lnTo>
                  <a:pt x="230684" y="2586331"/>
                </a:lnTo>
                <a:lnTo>
                  <a:pt x="223108" y="2583828"/>
                </a:lnTo>
                <a:lnTo>
                  <a:pt x="215537" y="2581325"/>
                </a:lnTo>
                <a:lnTo>
                  <a:pt x="208096" y="2578454"/>
                </a:lnTo>
                <a:lnTo>
                  <a:pt x="200652" y="2575581"/>
                </a:lnTo>
                <a:lnTo>
                  <a:pt x="193357" y="2572349"/>
                </a:lnTo>
                <a:lnTo>
                  <a:pt x="186066" y="2569119"/>
                </a:lnTo>
                <a:lnTo>
                  <a:pt x="178943" y="2565534"/>
                </a:lnTo>
                <a:lnTo>
                  <a:pt x="171815" y="2561947"/>
                </a:lnTo>
                <a:lnTo>
                  <a:pt x="164873" y="2558013"/>
                </a:lnTo>
                <a:lnTo>
                  <a:pt x="157935" y="2554081"/>
                </a:lnTo>
                <a:lnTo>
                  <a:pt x="151198" y="2549815"/>
                </a:lnTo>
                <a:lnTo>
                  <a:pt x="144457" y="2545545"/>
                </a:lnTo>
                <a:lnTo>
                  <a:pt x="137933" y="2540951"/>
                </a:lnTo>
                <a:lnTo>
                  <a:pt x="131412" y="2536361"/>
                </a:lnTo>
                <a:lnTo>
                  <a:pt x="125125" y="2531455"/>
                </a:lnTo>
                <a:lnTo>
                  <a:pt x="118834" y="2526546"/>
                </a:lnTo>
                <a:lnTo>
                  <a:pt x="112792" y="2521334"/>
                </a:lnTo>
                <a:lnTo>
                  <a:pt x="106755" y="2516124"/>
                </a:lnTo>
                <a:lnTo>
                  <a:pt x="100980" y="2510625"/>
                </a:lnTo>
                <a:lnTo>
                  <a:pt x="95202" y="2505121"/>
                </a:lnTo>
                <a:lnTo>
                  <a:pt x="89699" y="2499343"/>
                </a:lnTo>
                <a:lnTo>
                  <a:pt x="84199" y="2493569"/>
                </a:lnTo>
                <a:lnTo>
                  <a:pt x="78990" y="2487531"/>
                </a:lnTo>
                <a:lnTo>
                  <a:pt x="73777" y="2481489"/>
                </a:lnTo>
                <a:lnTo>
                  <a:pt x="68869" y="2475198"/>
                </a:lnTo>
                <a:lnTo>
                  <a:pt x="63964" y="2468911"/>
                </a:lnTo>
                <a:lnTo>
                  <a:pt x="59373" y="2462391"/>
                </a:lnTo>
                <a:lnTo>
                  <a:pt x="54779" y="2455866"/>
                </a:lnTo>
                <a:lnTo>
                  <a:pt x="50509" y="2449125"/>
                </a:lnTo>
                <a:lnTo>
                  <a:pt x="46241" y="2442389"/>
                </a:lnTo>
                <a:lnTo>
                  <a:pt x="42309" y="2435451"/>
                </a:lnTo>
                <a:lnTo>
                  <a:pt x="38376" y="2428509"/>
                </a:lnTo>
                <a:lnTo>
                  <a:pt x="34788" y="2421381"/>
                </a:lnTo>
                <a:lnTo>
                  <a:pt x="31204" y="2414257"/>
                </a:lnTo>
                <a:lnTo>
                  <a:pt x="27973" y="2406967"/>
                </a:lnTo>
                <a:lnTo>
                  <a:pt x="24741" y="2399671"/>
                </a:lnTo>
                <a:lnTo>
                  <a:pt x="21868" y="2392227"/>
                </a:lnTo>
                <a:lnTo>
                  <a:pt x="18997" y="2384787"/>
                </a:lnTo>
                <a:lnTo>
                  <a:pt x="16495" y="2377216"/>
                </a:lnTo>
                <a:lnTo>
                  <a:pt x="13991" y="2369639"/>
                </a:lnTo>
                <a:lnTo>
                  <a:pt x="11863" y="2361949"/>
                </a:lnTo>
                <a:lnTo>
                  <a:pt x="9738" y="2354262"/>
                </a:lnTo>
                <a:lnTo>
                  <a:pt x="7991" y="2346482"/>
                </a:lnTo>
                <a:lnTo>
                  <a:pt x="6245" y="2338696"/>
                </a:lnTo>
                <a:lnTo>
                  <a:pt x="4880" y="2330834"/>
                </a:lnTo>
                <a:lnTo>
                  <a:pt x="3515" y="2322977"/>
                </a:lnTo>
                <a:lnTo>
                  <a:pt x="194" y="2283261"/>
                </a:lnTo>
                <a:lnTo>
                  <a:pt x="0" y="2275284"/>
                </a:lnTo>
                <a:lnTo>
                  <a:pt x="0" y="325040"/>
                </a:lnTo>
                <a:lnTo>
                  <a:pt x="195" y="317063"/>
                </a:lnTo>
                <a:lnTo>
                  <a:pt x="388" y="309091"/>
                </a:lnTo>
                <a:lnTo>
                  <a:pt x="4879" y="269489"/>
                </a:lnTo>
                <a:lnTo>
                  <a:pt x="7992" y="253842"/>
                </a:lnTo>
                <a:lnTo>
                  <a:pt x="9737" y="246061"/>
                </a:lnTo>
                <a:lnTo>
                  <a:pt x="21868" y="208096"/>
                </a:lnTo>
                <a:lnTo>
                  <a:pt x="27973" y="193357"/>
                </a:lnTo>
                <a:lnTo>
                  <a:pt x="31203" y="186066"/>
                </a:lnTo>
                <a:lnTo>
                  <a:pt x="50508" y="151198"/>
                </a:lnTo>
                <a:lnTo>
                  <a:pt x="59372" y="137933"/>
                </a:lnTo>
                <a:lnTo>
                  <a:pt x="63963" y="131412"/>
                </a:lnTo>
                <a:lnTo>
                  <a:pt x="68868" y="125125"/>
                </a:lnTo>
                <a:lnTo>
                  <a:pt x="73777" y="118834"/>
                </a:lnTo>
                <a:lnTo>
                  <a:pt x="78989" y="112792"/>
                </a:lnTo>
                <a:lnTo>
                  <a:pt x="84199" y="106755"/>
                </a:lnTo>
                <a:lnTo>
                  <a:pt x="89698" y="100980"/>
                </a:lnTo>
                <a:lnTo>
                  <a:pt x="95202" y="95202"/>
                </a:lnTo>
                <a:lnTo>
                  <a:pt x="100980" y="89699"/>
                </a:lnTo>
                <a:lnTo>
                  <a:pt x="106754" y="84199"/>
                </a:lnTo>
                <a:lnTo>
                  <a:pt x="137932" y="59371"/>
                </a:lnTo>
                <a:lnTo>
                  <a:pt x="151197" y="50508"/>
                </a:lnTo>
                <a:lnTo>
                  <a:pt x="157934" y="46241"/>
                </a:lnTo>
                <a:lnTo>
                  <a:pt x="193357" y="27974"/>
                </a:lnTo>
                <a:lnTo>
                  <a:pt x="208096" y="21869"/>
                </a:lnTo>
                <a:lnTo>
                  <a:pt x="215536" y="18998"/>
                </a:lnTo>
                <a:lnTo>
                  <a:pt x="253842" y="7992"/>
                </a:lnTo>
                <a:lnTo>
                  <a:pt x="269489" y="4880"/>
                </a:lnTo>
                <a:lnTo>
                  <a:pt x="277346" y="3515"/>
                </a:lnTo>
                <a:lnTo>
                  <a:pt x="317063" y="194"/>
                </a:lnTo>
                <a:lnTo>
                  <a:pt x="325040" y="0"/>
                </a:lnTo>
              </a:path>
            </a:pathLst>
          </a:custGeom>
          <a:ln w="76199">
            <a:solidFill>
              <a:srgbClr val="44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404308" y="3378452"/>
            <a:ext cx="2121535" cy="127127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indent="-95250" algn="ctr">
              <a:lnSpc>
                <a:spcPts val="3150"/>
              </a:lnSpc>
              <a:spcBef>
                <a:spcPts val="505"/>
              </a:spcBef>
            </a:pPr>
            <a:r>
              <a:rPr sz="2900" spc="-80" dirty="0">
                <a:solidFill>
                  <a:srgbClr val="121D29"/>
                </a:solidFill>
                <a:latin typeface="Verdana"/>
                <a:cs typeface="Verdana"/>
              </a:rPr>
              <a:t>Evaluating </a:t>
            </a:r>
            <a:r>
              <a:rPr sz="2900" spc="-90" dirty="0">
                <a:solidFill>
                  <a:srgbClr val="121D29"/>
                </a:solidFill>
                <a:latin typeface="Verdana"/>
                <a:cs typeface="Verdana"/>
              </a:rPr>
              <a:t>Detecting </a:t>
            </a:r>
            <a:r>
              <a:rPr sz="2900" spc="-180" dirty="0">
                <a:solidFill>
                  <a:srgbClr val="121D29"/>
                </a:solidFill>
                <a:latin typeface="Verdana"/>
                <a:cs typeface="Verdana"/>
              </a:rPr>
              <a:t>Performance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0977" y="5640710"/>
            <a:ext cx="2668905" cy="183133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1155" marR="5080" indent="-339090">
              <a:lnSpc>
                <a:spcPts val="2780"/>
              </a:lnSpc>
              <a:spcBef>
                <a:spcPts val="475"/>
              </a:spcBef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10" dirty="0">
                <a:latin typeface="Arial MT"/>
                <a:cs typeface="Arial MT"/>
              </a:rPr>
              <a:t>Three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5" dirty="0">
                <a:latin typeface="Arial MT"/>
                <a:cs typeface="Arial MT"/>
              </a:rPr>
              <a:t>Evaluation </a:t>
            </a:r>
            <a:r>
              <a:rPr sz="2600" spc="-10" dirty="0">
                <a:latin typeface="Arial MT"/>
                <a:cs typeface="Arial MT"/>
              </a:rPr>
              <a:t>Measures</a:t>
            </a:r>
            <a:endParaRPr sz="2600">
              <a:latin typeface="Arial MT"/>
              <a:cs typeface="Arial MT"/>
            </a:endParaRPr>
          </a:p>
          <a:p>
            <a:pPr marL="351155" indent="-338455">
              <a:lnSpc>
                <a:spcPts val="2560"/>
              </a:lnSpc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05" dirty="0">
                <a:latin typeface="Arial MT"/>
                <a:cs typeface="Arial MT"/>
              </a:rPr>
              <a:t>Jaccard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Score</a:t>
            </a:r>
            <a:endParaRPr sz="2600">
              <a:latin typeface="Arial MT"/>
              <a:cs typeface="Arial MT"/>
            </a:endParaRPr>
          </a:p>
          <a:p>
            <a:pPr marL="351155" indent="-338455">
              <a:lnSpc>
                <a:spcPts val="2775"/>
              </a:lnSpc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55" dirty="0">
                <a:latin typeface="Arial MT"/>
                <a:cs typeface="Arial MT"/>
              </a:rPr>
              <a:t>BERT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Score</a:t>
            </a:r>
            <a:endParaRPr sz="2600">
              <a:latin typeface="Arial MT"/>
              <a:cs typeface="Arial MT"/>
            </a:endParaRPr>
          </a:p>
          <a:p>
            <a:pPr marL="351155" indent="-338455">
              <a:lnSpc>
                <a:spcPts val="2945"/>
              </a:lnSpc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55" dirty="0">
                <a:latin typeface="Arial MT"/>
                <a:cs typeface="Arial MT"/>
              </a:rPr>
              <a:t>METEOR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Score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53045" y="5681652"/>
            <a:ext cx="3474720" cy="24707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07670" marR="923290" indent="-395605">
              <a:lnSpc>
                <a:spcPts val="3229"/>
              </a:lnSpc>
              <a:spcBef>
                <a:spcPts val="114"/>
              </a:spcBef>
              <a:buClr>
                <a:srgbClr val="939DA7"/>
              </a:buClr>
              <a:buChar char="•"/>
              <a:tabLst>
                <a:tab pos="407670" algn="l"/>
              </a:tabLst>
            </a:pPr>
            <a:r>
              <a:rPr sz="2600" spc="-105" dirty="0">
                <a:latin typeface="Arial MT"/>
                <a:cs typeface="Arial MT"/>
              </a:rPr>
              <a:t>Four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05" dirty="0">
                <a:latin typeface="Arial MT"/>
                <a:cs typeface="Arial MT"/>
              </a:rPr>
              <a:t>Evaluation </a:t>
            </a:r>
            <a:r>
              <a:rPr sz="2600" spc="-10" dirty="0">
                <a:latin typeface="Arial MT"/>
                <a:cs typeface="Arial MT"/>
              </a:rPr>
              <a:t>Measures</a:t>
            </a:r>
            <a:endParaRPr sz="2600">
              <a:latin typeface="Arial MT"/>
              <a:cs typeface="Arial MT"/>
            </a:endParaRPr>
          </a:p>
          <a:p>
            <a:pPr marL="407670" indent="-394970">
              <a:lnSpc>
                <a:spcPts val="3095"/>
              </a:lnSpc>
              <a:buClr>
                <a:srgbClr val="939DA7"/>
              </a:buClr>
              <a:buChar char="•"/>
              <a:tabLst>
                <a:tab pos="407670" algn="l"/>
              </a:tabLst>
            </a:pPr>
            <a:r>
              <a:rPr sz="2600" spc="-165" dirty="0">
                <a:latin typeface="Arial MT"/>
                <a:cs typeface="Arial MT"/>
              </a:rPr>
              <a:t>Youden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14" dirty="0">
                <a:latin typeface="Arial MT"/>
                <a:cs typeface="Arial MT"/>
              </a:rPr>
              <a:t>Macro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F1</a:t>
            </a:r>
            <a:endParaRPr sz="2600">
              <a:latin typeface="Arial MT"/>
              <a:cs typeface="Arial MT"/>
            </a:endParaRPr>
          </a:p>
          <a:p>
            <a:pPr marL="407670" indent="-394970">
              <a:lnSpc>
                <a:spcPct val="100000"/>
              </a:lnSpc>
              <a:spcBef>
                <a:spcPts val="105"/>
              </a:spcBef>
              <a:buClr>
                <a:srgbClr val="939DA7"/>
              </a:buClr>
              <a:buChar char="•"/>
              <a:tabLst>
                <a:tab pos="407670" algn="l"/>
              </a:tabLst>
            </a:pPr>
            <a:r>
              <a:rPr sz="2600" spc="-114" dirty="0">
                <a:latin typeface="Arial MT"/>
                <a:cs typeface="Arial MT"/>
              </a:rPr>
              <a:t>Macro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25" dirty="0">
                <a:latin typeface="Arial MT"/>
                <a:cs typeface="Arial MT"/>
              </a:rPr>
              <a:t>F1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20" dirty="0">
                <a:latin typeface="Arial MT"/>
                <a:cs typeface="Arial MT"/>
              </a:rPr>
              <a:t>@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95" dirty="0">
                <a:latin typeface="Arial MT"/>
                <a:cs typeface="Arial MT"/>
              </a:rPr>
              <a:t>0.05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5" dirty="0">
                <a:latin typeface="Arial MT"/>
                <a:cs typeface="Arial MT"/>
              </a:rPr>
              <a:t>FPR</a:t>
            </a:r>
            <a:endParaRPr sz="2600">
              <a:latin typeface="Arial MT"/>
              <a:cs typeface="Arial MT"/>
            </a:endParaRPr>
          </a:p>
          <a:p>
            <a:pPr marL="407670" indent="-394970">
              <a:lnSpc>
                <a:spcPct val="100000"/>
              </a:lnSpc>
              <a:spcBef>
                <a:spcPts val="105"/>
              </a:spcBef>
              <a:buClr>
                <a:srgbClr val="939DA7"/>
              </a:buClr>
              <a:buChar char="•"/>
              <a:tabLst>
                <a:tab pos="407670" algn="l"/>
              </a:tabLst>
            </a:pPr>
            <a:r>
              <a:rPr sz="2600" spc="-145" dirty="0">
                <a:latin typeface="Arial MT"/>
                <a:cs typeface="Arial MT"/>
              </a:rPr>
              <a:t>TPR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20" dirty="0">
                <a:latin typeface="Arial MT"/>
                <a:cs typeface="Arial MT"/>
              </a:rPr>
              <a:t>@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95" dirty="0">
                <a:latin typeface="Arial MT"/>
                <a:cs typeface="Arial MT"/>
              </a:rPr>
              <a:t>0.01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FPR</a:t>
            </a:r>
            <a:endParaRPr sz="2600">
              <a:latin typeface="Arial MT"/>
              <a:cs typeface="Arial MT"/>
            </a:endParaRPr>
          </a:p>
          <a:p>
            <a:pPr marL="407670" indent="-394970">
              <a:lnSpc>
                <a:spcPct val="100000"/>
              </a:lnSpc>
              <a:spcBef>
                <a:spcPts val="105"/>
              </a:spcBef>
              <a:buClr>
                <a:srgbClr val="939DA7"/>
              </a:buClr>
              <a:buChar char="•"/>
              <a:tabLst>
                <a:tab pos="407670" algn="l"/>
              </a:tabLst>
            </a:pPr>
            <a:r>
              <a:rPr sz="2600" spc="-140" dirty="0">
                <a:latin typeface="Arial MT"/>
                <a:cs typeface="Arial MT"/>
              </a:rPr>
              <a:t>OVL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Score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37489" y="5762926"/>
            <a:ext cx="3347085" cy="218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ts val="2950"/>
              </a:lnSpc>
              <a:spcBef>
                <a:spcPts val="100"/>
              </a:spcBef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0" dirty="0">
                <a:latin typeface="Arial MT"/>
                <a:cs typeface="Arial MT"/>
              </a:rPr>
              <a:t>Models</a:t>
            </a:r>
            <a:endParaRPr sz="2600">
              <a:latin typeface="Arial MT"/>
              <a:cs typeface="Arial MT"/>
            </a:endParaRPr>
          </a:p>
          <a:p>
            <a:pPr marL="351155" marR="208279" indent="-339090">
              <a:lnSpc>
                <a:spcPts val="2780"/>
              </a:lnSpc>
              <a:spcBef>
                <a:spcPts val="200"/>
              </a:spcBef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00" dirty="0">
                <a:latin typeface="Arial MT"/>
                <a:cs typeface="Arial MT"/>
              </a:rPr>
              <a:t>Pretrained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100" dirty="0">
                <a:latin typeface="Arial MT"/>
                <a:cs typeface="Arial MT"/>
              </a:rPr>
              <a:t>long-form </a:t>
            </a:r>
            <a:r>
              <a:rPr sz="2600" spc="-10" dirty="0">
                <a:latin typeface="Arial MT"/>
                <a:cs typeface="Arial MT"/>
              </a:rPr>
              <a:t>detectors</a:t>
            </a:r>
            <a:endParaRPr sz="2600">
              <a:latin typeface="Arial MT"/>
              <a:cs typeface="Arial MT"/>
            </a:endParaRPr>
          </a:p>
          <a:p>
            <a:pPr marL="351155" indent="-338455">
              <a:lnSpc>
                <a:spcPts val="2560"/>
              </a:lnSpc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30" dirty="0">
                <a:latin typeface="Arial MT"/>
                <a:cs typeface="Arial MT"/>
              </a:rPr>
              <a:t>Open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10" dirty="0">
                <a:latin typeface="Arial MT"/>
                <a:cs typeface="Arial MT"/>
              </a:rPr>
              <a:t>Source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LLMs</a:t>
            </a:r>
            <a:endParaRPr sz="2600">
              <a:latin typeface="Arial MT"/>
              <a:cs typeface="Arial MT"/>
            </a:endParaRPr>
          </a:p>
          <a:p>
            <a:pPr marL="351155" indent="-338455">
              <a:lnSpc>
                <a:spcPts val="2775"/>
              </a:lnSpc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114" dirty="0">
                <a:latin typeface="Arial MT"/>
                <a:cs typeface="Arial MT"/>
              </a:rPr>
              <a:t>Encoder-based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spc="-100" dirty="0">
                <a:latin typeface="Arial MT"/>
                <a:cs typeface="Arial MT"/>
              </a:rPr>
              <a:t>model</a:t>
            </a:r>
            <a:endParaRPr sz="2600">
              <a:latin typeface="Arial MT"/>
              <a:cs typeface="Arial MT"/>
            </a:endParaRPr>
          </a:p>
          <a:p>
            <a:pPr marL="351155" indent="-338455">
              <a:lnSpc>
                <a:spcPts val="2945"/>
              </a:lnSpc>
              <a:buClr>
                <a:srgbClr val="939DA7"/>
              </a:buClr>
              <a:buChar char="•"/>
              <a:tabLst>
                <a:tab pos="351155" algn="l"/>
              </a:tabLst>
            </a:pPr>
            <a:r>
              <a:rPr sz="2600" spc="-80" dirty="0">
                <a:latin typeface="Arial MT"/>
                <a:cs typeface="Arial MT"/>
              </a:rPr>
              <a:t>Statistical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model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944" y="5683875"/>
            <a:ext cx="3937000" cy="3289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1155" marR="115570" indent="-339090">
              <a:lnSpc>
                <a:spcPts val="3229"/>
              </a:lnSpc>
              <a:spcBef>
                <a:spcPts val="114"/>
              </a:spcBef>
              <a:buChar char="•"/>
              <a:tabLst>
                <a:tab pos="351155" algn="l"/>
                <a:tab pos="407670" algn="l"/>
              </a:tabLst>
            </a:pPr>
            <a:r>
              <a:rPr sz="2600" dirty="0">
                <a:solidFill>
                  <a:srgbClr val="939DA7"/>
                </a:solidFill>
                <a:latin typeface="Arial MT"/>
                <a:cs typeface="Arial MT"/>
              </a:rPr>
              <a:t>	</a:t>
            </a:r>
            <a:r>
              <a:rPr sz="2600" spc="-110" dirty="0">
                <a:latin typeface="Arial MT"/>
                <a:cs typeface="Arial MT"/>
              </a:rPr>
              <a:t>Curated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8</a:t>
            </a:r>
            <a:r>
              <a:rPr sz="2600" spc="-135" dirty="0">
                <a:latin typeface="Arial MT"/>
                <a:cs typeface="Arial MT"/>
              </a:rPr>
              <a:t> </a:t>
            </a:r>
            <a:r>
              <a:rPr sz="2600" spc="-100" dirty="0">
                <a:latin typeface="Arial MT"/>
                <a:cs typeface="Arial MT"/>
              </a:rPr>
              <a:t>Misinformation </a:t>
            </a:r>
            <a:r>
              <a:rPr sz="2600" spc="-10" dirty="0">
                <a:latin typeface="Arial MT"/>
                <a:cs typeface="Arial MT"/>
              </a:rPr>
              <a:t>datasets</a:t>
            </a:r>
            <a:endParaRPr sz="2600">
              <a:latin typeface="Arial MT"/>
              <a:cs typeface="Arial MT"/>
            </a:endParaRPr>
          </a:p>
          <a:p>
            <a:pPr marL="407670" indent="-394970">
              <a:lnSpc>
                <a:spcPts val="3095"/>
              </a:lnSpc>
              <a:buClr>
                <a:srgbClr val="939DA7"/>
              </a:buClr>
              <a:buChar char="•"/>
              <a:tabLst>
                <a:tab pos="407670" algn="l"/>
              </a:tabLst>
            </a:pPr>
            <a:r>
              <a:rPr sz="2600" spc="-114" dirty="0">
                <a:latin typeface="Arial MT"/>
                <a:cs typeface="Arial MT"/>
              </a:rPr>
              <a:t>Paraphrased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tweets</a:t>
            </a:r>
            <a:endParaRPr sz="2600">
              <a:latin typeface="Arial MT"/>
              <a:cs typeface="Arial MT"/>
            </a:endParaRPr>
          </a:p>
          <a:p>
            <a:pPr marL="351155" marR="110489">
              <a:lnSpc>
                <a:spcPts val="3220"/>
              </a:lnSpc>
              <a:spcBef>
                <a:spcPts val="130"/>
              </a:spcBef>
            </a:pPr>
            <a:r>
              <a:rPr sz="2600" spc="-100" dirty="0">
                <a:latin typeface="Arial MT"/>
                <a:cs typeface="Arial MT"/>
              </a:rPr>
              <a:t>majorly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0" dirty="0">
                <a:latin typeface="Arial MT"/>
                <a:cs typeface="Arial MT"/>
              </a:rPr>
              <a:t>using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90" dirty="0">
                <a:latin typeface="Arial MT"/>
                <a:cs typeface="Arial MT"/>
              </a:rPr>
              <a:t>three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80" dirty="0">
                <a:latin typeface="Arial MT"/>
                <a:cs typeface="Arial MT"/>
              </a:rPr>
              <a:t>SOTA </a:t>
            </a:r>
            <a:r>
              <a:rPr sz="2600" spc="-20" dirty="0">
                <a:latin typeface="Arial MT"/>
                <a:cs typeface="Arial MT"/>
              </a:rPr>
              <a:t>LLMS</a:t>
            </a:r>
            <a:endParaRPr sz="2600">
              <a:latin typeface="Arial MT"/>
              <a:cs typeface="Arial MT"/>
            </a:endParaRPr>
          </a:p>
          <a:p>
            <a:pPr marL="351155" marR="35560" indent="-339090">
              <a:lnSpc>
                <a:spcPts val="3229"/>
              </a:lnSpc>
              <a:buChar char="•"/>
              <a:tabLst>
                <a:tab pos="351155" algn="l"/>
                <a:tab pos="407670" algn="l"/>
              </a:tabLst>
            </a:pPr>
            <a:r>
              <a:rPr sz="2600" dirty="0">
                <a:solidFill>
                  <a:srgbClr val="939DA7"/>
                </a:solidFill>
                <a:latin typeface="Arial MT"/>
                <a:cs typeface="Arial MT"/>
              </a:rPr>
              <a:t>	</a:t>
            </a:r>
            <a:r>
              <a:rPr sz="2600" spc="-120" dirty="0">
                <a:latin typeface="Arial MT"/>
                <a:cs typeface="Arial MT"/>
              </a:rPr>
              <a:t>The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10" dirty="0">
                <a:latin typeface="Arial MT"/>
                <a:cs typeface="Arial MT"/>
              </a:rPr>
              <a:t>generated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tweets </a:t>
            </a:r>
            <a:r>
              <a:rPr sz="2600" spc="-110" dirty="0">
                <a:latin typeface="Arial MT"/>
                <a:cs typeface="Arial MT"/>
              </a:rPr>
              <a:t>were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5" dirty="0">
                <a:latin typeface="Arial MT"/>
                <a:cs typeface="Arial MT"/>
              </a:rPr>
              <a:t>cleaned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20" dirty="0">
                <a:latin typeface="Arial MT"/>
                <a:cs typeface="Arial MT"/>
              </a:rPr>
              <a:t>and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95" dirty="0">
                <a:latin typeface="Arial MT"/>
                <a:cs typeface="Arial MT"/>
              </a:rPr>
              <a:t>labelled</a:t>
            </a:r>
            <a:endParaRPr sz="2600">
              <a:latin typeface="Arial MT"/>
              <a:cs typeface="Arial MT"/>
            </a:endParaRPr>
          </a:p>
          <a:p>
            <a:pPr marL="407670" indent="-394970">
              <a:lnSpc>
                <a:spcPts val="3095"/>
              </a:lnSpc>
              <a:buClr>
                <a:srgbClr val="939DA7"/>
              </a:buClr>
              <a:buChar char="•"/>
              <a:tabLst>
                <a:tab pos="407670" algn="l"/>
              </a:tabLst>
            </a:pPr>
            <a:r>
              <a:rPr sz="2600" spc="-100" dirty="0">
                <a:latin typeface="Arial MT"/>
                <a:cs typeface="Arial MT"/>
              </a:rPr>
              <a:t>Resulting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20" dirty="0">
                <a:latin typeface="Arial MT"/>
                <a:cs typeface="Arial MT"/>
              </a:rPr>
              <a:t>~50k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0" dirty="0">
                <a:latin typeface="Arial MT"/>
                <a:cs typeface="Arial MT"/>
              </a:rPr>
              <a:t>tweet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80" dirty="0"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11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25"/>
              </a:spcBef>
            </a:pPr>
            <a:r>
              <a:rPr dirty="0"/>
              <a:t>Results</a:t>
            </a:r>
            <a:r>
              <a:rPr spc="-145" dirty="0"/>
              <a:t> </a:t>
            </a:r>
            <a:r>
              <a:rPr spc="135" dirty="0"/>
              <a:t>:</a:t>
            </a:r>
            <a:r>
              <a:rPr spc="-145" dirty="0"/>
              <a:t> </a:t>
            </a:r>
            <a:r>
              <a:rPr dirty="0"/>
              <a:t>Generated</a:t>
            </a:r>
            <a:r>
              <a:rPr spc="-140" dirty="0"/>
              <a:t> </a:t>
            </a:r>
            <a:r>
              <a:rPr dirty="0"/>
              <a:t>Data</a:t>
            </a:r>
            <a:r>
              <a:rPr spc="-145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66598" y="2089360"/>
            <a:ext cx="15377160" cy="7243445"/>
            <a:chOff x="1566598" y="2089360"/>
            <a:chExt cx="15377160" cy="72434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7632" y="2089360"/>
              <a:ext cx="10429874" cy="2381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6598" y="4479763"/>
              <a:ext cx="7553324" cy="4714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3515" y="4407879"/>
              <a:ext cx="7820024" cy="49244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81037" y="9335633"/>
            <a:ext cx="1559433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spc="-150" dirty="0">
                <a:latin typeface="Verdana"/>
                <a:cs typeface="Verdana"/>
              </a:rPr>
              <a:t>Mistral</a:t>
            </a:r>
            <a:r>
              <a:rPr sz="2900" spc="-235" dirty="0">
                <a:latin typeface="Verdana"/>
                <a:cs typeface="Verdana"/>
              </a:rPr>
              <a:t> </a:t>
            </a:r>
            <a:r>
              <a:rPr sz="2900" spc="-200" dirty="0">
                <a:latin typeface="Verdana"/>
                <a:cs typeface="Verdana"/>
              </a:rPr>
              <a:t>paraphrased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240" dirty="0">
                <a:latin typeface="Verdana"/>
                <a:cs typeface="Verdana"/>
              </a:rPr>
              <a:t>the</a:t>
            </a:r>
            <a:r>
              <a:rPr sz="2900" spc="-235" dirty="0">
                <a:latin typeface="Verdana"/>
                <a:cs typeface="Verdana"/>
              </a:rPr>
              <a:t> data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240" dirty="0">
                <a:latin typeface="Verdana"/>
                <a:cs typeface="Verdana"/>
              </a:rPr>
              <a:t>the</a:t>
            </a:r>
            <a:r>
              <a:rPr sz="2900" spc="-235" dirty="0">
                <a:latin typeface="Verdana"/>
                <a:cs typeface="Verdana"/>
              </a:rPr>
              <a:t> </a:t>
            </a:r>
            <a:r>
              <a:rPr sz="2900" spc="-185" dirty="0">
                <a:latin typeface="Verdana"/>
                <a:cs typeface="Verdana"/>
              </a:rPr>
              <a:t>best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204" dirty="0">
                <a:latin typeface="Verdana"/>
                <a:cs typeface="Verdana"/>
              </a:rPr>
              <a:t>with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240" dirty="0">
                <a:latin typeface="Verdana"/>
                <a:cs typeface="Verdana"/>
              </a:rPr>
              <a:t>the</a:t>
            </a:r>
            <a:r>
              <a:rPr sz="2900" spc="-235" dirty="0">
                <a:latin typeface="Verdana"/>
                <a:cs typeface="Verdana"/>
              </a:rPr>
              <a:t> </a:t>
            </a:r>
            <a:r>
              <a:rPr sz="2900" spc="-170" dirty="0">
                <a:latin typeface="Verdana"/>
                <a:cs typeface="Verdana"/>
              </a:rPr>
              <a:t>lowest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110" dirty="0">
                <a:latin typeface="Verdana"/>
                <a:cs typeface="Verdana"/>
              </a:rPr>
              <a:t>Jaccard</a:t>
            </a:r>
            <a:r>
              <a:rPr sz="2900" spc="-235" dirty="0">
                <a:latin typeface="Verdana"/>
                <a:cs typeface="Verdana"/>
              </a:rPr>
              <a:t> </a:t>
            </a:r>
            <a:r>
              <a:rPr sz="2900" spc="-130" dirty="0">
                <a:latin typeface="Verdana"/>
                <a:cs typeface="Verdana"/>
              </a:rPr>
              <a:t>score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215" dirty="0">
                <a:latin typeface="Verdana"/>
                <a:cs typeface="Verdana"/>
              </a:rPr>
              <a:t>and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195" dirty="0">
                <a:latin typeface="Verdana"/>
                <a:cs typeface="Verdana"/>
              </a:rPr>
              <a:t>equivalent</a:t>
            </a:r>
            <a:r>
              <a:rPr sz="2900" spc="-235" dirty="0">
                <a:latin typeface="Verdana"/>
                <a:cs typeface="Verdana"/>
              </a:rPr>
              <a:t> </a:t>
            </a:r>
            <a:r>
              <a:rPr sz="2900" spc="-85" dirty="0">
                <a:latin typeface="Verdana"/>
                <a:cs typeface="Verdana"/>
              </a:rPr>
              <a:t>BERT</a:t>
            </a:r>
            <a:r>
              <a:rPr sz="2900" spc="-229" dirty="0">
                <a:latin typeface="Verdana"/>
                <a:cs typeface="Verdana"/>
              </a:rPr>
              <a:t> </a:t>
            </a:r>
            <a:r>
              <a:rPr sz="2900" spc="-20" dirty="0">
                <a:latin typeface="Verdana"/>
                <a:cs typeface="Verdana"/>
              </a:rPr>
              <a:t>score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95316" y="9541757"/>
            <a:ext cx="216535" cy="459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50" spc="-50" dirty="0">
                <a:latin typeface="Arial MT"/>
                <a:cs typeface="Arial MT"/>
              </a:rPr>
              <a:t>6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Results:</a:t>
            </a:r>
            <a:r>
              <a:rPr spc="15" dirty="0"/>
              <a:t> </a:t>
            </a:r>
            <a:r>
              <a:rPr spc="55" dirty="0"/>
              <a:t>MGT</a:t>
            </a:r>
            <a:r>
              <a:rPr spc="15" dirty="0"/>
              <a:t> </a:t>
            </a:r>
            <a:r>
              <a:rPr dirty="0"/>
              <a:t>Detection</a:t>
            </a:r>
            <a:r>
              <a:rPr spc="1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067" y="2339168"/>
            <a:ext cx="13296899" cy="65150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9311" y="8784147"/>
            <a:ext cx="16762730" cy="121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Arial MT"/>
                <a:cs typeface="Arial MT"/>
              </a:rPr>
              <a:t>Fine-</a:t>
            </a:r>
            <a:r>
              <a:rPr sz="2600" dirty="0">
                <a:latin typeface="Arial MT"/>
                <a:cs typeface="Arial MT"/>
              </a:rPr>
              <a:t>tuned</a:t>
            </a:r>
            <a:r>
              <a:rPr sz="2600" spc="-50" dirty="0">
                <a:latin typeface="Arial MT"/>
                <a:cs typeface="Arial MT"/>
              </a:rPr>
              <a:t> Llama-</a:t>
            </a:r>
            <a:r>
              <a:rPr sz="2600" spc="-90" dirty="0">
                <a:latin typeface="Arial MT"/>
                <a:cs typeface="Arial MT"/>
              </a:rPr>
              <a:t>3.2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3B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performed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best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datsets(~70-</a:t>
            </a:r>
            <a:r>
              <a:rPr sz="2600" spc="-140" dirty="0">
                <a:latin typeface="Arial MT"/>
                <a:cs typeface="Arial MT"/>
              </a:rPr>
              <a:t>90%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60" dirty="0">
                <a:latin typeface="Arial MT"/>
                <a:cs typeface="Arial MT"/>
              </a:rPr>
              <a:t>Youden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Macro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25" dirty="0">
                <a:latin typeface="Arial MT"/>
                <a:cs typeface="Arial MT"/>
              </a:rPr>
              <a:t>F1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across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datasets)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850" spc="-50" dirty="0">
                <a:latin typeface="Arial MT"/>
                <a:cs typeface="Arial MT"/>
              </a:rPr>
              <a:t>7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Results:</a:t>
            </a:r>
            <a:r>
              <a:rPr spc="15" dirty="0"/>
              <a:t> </a:t>
            </a:r>
            <a:r>
              <a:rPr spc="55" dirty="0"/>
              <a:t>MGT</a:t>
            </a:r>
            <a:r>
              <a:rPr spc="15" dirty="0"/>
              <a:t> </a:t>
            </a:r>
            <a:r>
              <a:rPr dirty="0"/>
              <a:t>Detection</a:t>
            </a:r>
            <a:r>
              <a:rPr spc="1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8723" y="9371976"/>
            <a:ext cx="162039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Arial MT"/>
                <a:cs typeface="Arial MT"/>
              </a:rPr>
              <a:t>Fine-</a:t>
            </a:r>
            <a:r>
              <a:rPr sz="2600" dirty="0">
                <a:latin typeface="Arial MT"/>
                <a:cs typeface="Arial MT"/>
              </a:rPr>
              <a:t>tuned</a:t>
            </a:r>
            <a:r>
              <a:rPr sz="2600" spc="-50" dirty="0">
                <a:latin typeface="Arial MT"/>
                <a:cs typeface="Arial MT"/>
              </a:rPr>
              <a:t> Llama-</a:t>
            </a:r>
            <a:r>
              <a:rPr sz="2600" spc="-90" dirty="0">
                <a:latin typeface="Arial MT"/>
                <a:cs typeface="Arial MT"/>
              </a:rPr>
              <a:t>3.2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3B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performed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best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datsets(~70-</a:t>
            </a:r>
            <a:r>
              <a:rPr sz="2600" spc="-140" dirty="0">
                <a:latin typeface="Arial MT"/>
                <a:cs typeface="Arial MT"/>
              </a:rPr>
              <a:t>90%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60" dirty="0">
                <a:latin typeface="Arial MT"/>
                <a:cs typeface="Arial MT"/>
              </a:rPr>
              <a:t>Youden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Macro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25" dirty="0">
                <a:latin typeface="Arial MT"/>
                <a:cs typeface="Arial MT"/>
              </a:rPr>
              <a:t>F1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across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datasets)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82" y="2671418"/>
            <a:ext cx="9839324" cy="4819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1542" y="5629098"/>
            <a:ext cx="5781674" cy="34670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1542" y="1842036"/>
            <a:ext cx="6038849" cy="36194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695316" y="9541757"/>
            <a:ext cx="216535" cy="459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50" spc="-50" dirty="0">
                <a:latin typeface="Arial MT"/>
                <a:cs typeface="Arial MT"/>
              </a:rPr>
              <a:t>8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Error</a:t>
            </a:r>
            <a:r>
              <a:rPr spc="1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637" y="3117973"/>
            <a:ext cx="10258424" cy="54101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43482" y="2328021"/>
            <a:ext cx="6048375" cy="7196455"/>
            <a:chOff x="11543482" y="2328021"/>
            <a:chExt cx="6048375" cy="71964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3482" y="2328021"/>
              <a:ext cx="6048374" cy="37814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47370" y="5752017"/>
              <a:ext cx="6038849" cy="37718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81534" y="2244206"/>
            <a:ext cx="63766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latin typeface="Arial MT"/>
                <a:cs typeface="Arial MT"/>
              </a:rPr>
              <a:t>Impact</a:t>
            </a:r>
            <a:r>
              <a:rPr sz="3900" spc="-135" dirty="0">
                <a:latin typeface="Arial MT"/>
                <a:cs typeface="Arial MT"/>
              </a:rPr>
              <a:t> </a:t>
            </a:r>
            <a:r>
              <a:rPr sz="3900" spc="65" dirty="0">
                <a:latin typeface="Arial MT"/>
                <a:cs typeface="Arial MT"/>
              </a:rPr>
              <a:t>of</a:t>
            </a:r>
            <a:r>
              <a:rPr sz="3900" spc="-135" dirty="0">
                <a:latin typeface="Arial MT"/>
                <a:cs typeface="Arial MT"/>
              </a:rPr>
              <a:t> </a:t>
            </a:r>
            <a:r>
              <a:rPr sz="3900" spc="65" dirty="0">
                <a:latin typeface="Arial MT"/>
                <a:cs typeface="Arial MT"/>
              </a:rPr>
              <a:t>Linguistic</a:t>
            </a:r>
            <a:r>
              <a:rPr sz="3900" spc="-130" dirty="0">
                <a:latin typeface="Arial MT"/>
                <a:cs typeface="Arial MT"/>
              </a:rPr>
              <a:t> </a:t>
            </a:r>
            <a:r>
              <a:rPr sz="3900" spc="-40" dirty="0">
                <a:latin typeface="Arial MT"/>
                <a:cs typeface="Arial MT"/>
              </a:rPr>
              <a:t>Features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91208" y="1472002"/>
            <a:ext cx="579374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latin typeface="Arial MT"/>
                <a:cs typeface="Arial MT"/>
              </a:rPr>
              <a:t>Impact</a:t>
            </a:r>
            <a:r>
              <a:rPr sz="3900" spc="-135" dirty="0">
                <a:latin typeface="Arial MT"/>
                <a:cs typeface="Arial MT"/>
              </a:rPr>
              <a:t> </a:t>
            </a:r>
            <a:r>
              <a:rPr sz="3900" spc="65" dirty="0">
                <a:latin typeface="Arial MT"/>
                <a:cs typeface="Arial MT"/>
              </a:rPr>
              <a:t>of</a:t>
            </a:r>
            <a:r>
              <a:rPr sz="3900" spc="-13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Lexical</a:t>
            </a:r>
            <a:r>
              <a:rPr sz="3900" spc="-135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Diversity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fld id="{81D60167-4931-47E6-BA6A-407CBD079E47}" type="slidenum">
              <a:rPr spc="-70" dirty="0"/>
              <a:t>9</a:t>
            </a:fld>
            <a:endParaRPr spc="-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/>
              <a:t>Error</a:t>
            </a:r>
            <a:r>
              <a:rPr spc="1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2331" y="3211623"/>
            <a:ext cx="4952999" cy="48482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4405" y="2673489"/>
            <a:ext cx="5133974" cy="4952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48283" y="2268670"/>
            <a:ext cx="60210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latin typeface="Arial MT"/>
                <a:cs typeface="Arial MT"/>
              </a:rPr>
              <a:t>Emotiocon</a:t>
            </a:r>
            <a:r>
              <a:rPr sz="3900" spc="-10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&amp;</a:t>
            </a:r>
            <a:r>
              <a:rPr sz="3900" spc="-100" dirty="0">
                <a:latin typeface="Arial MT"/>
                <a:cs typeface="Arial MT"/>
              </a:rPr>
              <a:t> </a:t>
            </a:r>
            <a:r>
              <a:rPr sz="3900" spc="-35" dirty="0">
                <a:latin typeface="Arial MT"/>
                <a:cs typeface="Arial MT"/>
              </a:rPr>
              <a:t>Hashtag</a:t>
            </a:r>
            <a:r>
              <a:rPr sz="3900" spc="-100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Error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05901" y="2029345"/>
            <a:ext cx="48780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latin typeface="Arial MT"/>
                <a:cs typeface="Arial MT"/>
              </a:rPr>
              <a:t>Low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token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tweets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bias</a:t>
            </a:r>
            <a:endParaRPr sz="3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4623" y="8132063"/>
            <a:ext cx="5641847" cy="173431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710671" y="7894319"/>
            <a:ext cx="6703059" cy="1969135"/>
            <a:chOff x="10710671" y="7894319"/>
            <a:chExt cx="6703059" cy="196913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01599" y="8452103"/>
              <a:ext cx="4611623" cy="8412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10671" y="9043415"/>
              <a:ext cx="4593335" cy="8199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13719" y="7894319"/>
              <a:ext cx="3194303" cy="765047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fld id="{81D60167-4931-47E6-BA6A-407CBD079E47}" type="slidenum">
              <a:rPr spc="-70" dirty="0"/>
              <a:t>10</a:t>
            </a:fld>
            <a:endParaRPr spc="-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800" y="2594216"/>
            <a:ext cx="15899765" cy="700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190" dirty="0">
                <a:solidFill>
                  <a:srgbClr val="440099"/>
                </a:solidFill>
                <a:latin typeface="Arial MT"/>
                <a:cs typeface="Arial MT"/>
              </a:rPr>
              <a:t>RQ1</a:t>
            </a:r>
            <a:r>
              <a:rPr sz="3900" spc="-190" dirty="0">
                <a:latin typeface="Arial MT"/>
                <a:cs typeface="Arial MT"/>
              </a:rPr>
              <a:t>: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215" dirty="0">
                <a:latin typeface="Arial MT"/>
                <a:cs typeface="Arial MT"/>
              </a:rPr>
              <a:t>How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25" dirty="0">
                <a:latin typeface="Arial MT"/>
                <a:cs typeface="Arial MT"/>
              </a:rPr>
              <a:t>similar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35" dirty="0">
                <a:latin typeface="Arial MT"/>
                <a:cs typeface="Arial MT"/>
              </a:rPr>
              <a:t>are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85" dirty="0">
                <a:latin typeface="Arial MT"/>
                <a:cs typeface="Arial MT"/>
              </a:rPr>
              <a:t>LLM-</a:t>
            </a:r>
            <a:r>
              <a:rPr sz="3900" spc="-160" dirty="0">
                <a:latin typeface="Arial MT"/>
                <a:cs typeface="Arial MT"/>
              </a:rPr>
              <a:t>generated</a:t>
            </a:r>
            <a:r>
              <a:rPr sz="3900" spc="-80" dirty="0">
                <a:latin typeface="Arial MT"/>
                <a:cs typeface="Arial MT"/>
              </a:rPr>
              <a:t> </a:t>
            </a:r>
            <a:r>
              <a:rPr sz="3900" spc="-165" dirty="0">
                <a:latin typeface="Arial MT"/>
                <a:cs typeface="Arial MT"/>
              </a:rPr>
              <a:t>paraphrased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45" dirty="0">
                <a:latin typeface="Arial MT"/>
                <a:cs typeface="Arial MT"/>
              </a:rPr>
              <a:t>tweets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80" dirty="0">
                <a:latin typeface="Arial MT"/>
                <a:cs typeface="Arial MT"/>
              </a:rPr>
              <a:t>to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85" dirty="0">
                <a:latin typeface="Arial MT"/>
                <a:cs typeface="Arial MT"/>
              </a:rPr>
              <a:t>human-</a:t>
            </a:r>
            <a:r>
              <a:rPr sz="3900" spc="-10" dirty="0">
                <a:latin typeface="Arial MT"/>
                <a:cs typeface="Arial MT"/>
              </a:rPr>
              <a:t>written?</a:t>
            </a:r>
            <a:endParaRPr sz="3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ts val="4120"/>
              </a:lnSpc>
              <a:spcBef>
                <a:spcPts val="5"/>
              </a:spcBef>
            </a:pPr>
            <a:r>
              <a:rPr sz="3900" spc="-180" dirty="0">
                <a:latin typeface="Arial MT"/>
                <a:cs typeface="Arial MT"/>
              </a:rPr>
              <a:t>By</a:t>
            </a:r>
            <a:r>
              <a:rPr sz="3900" spc="-95" dirty="0">
                <a:latin typeface="Arial MT"/>
                <a:cs typeface="Arial MT"/>
              </a:rPr>
              <a:t> </a:t>
            </a:r>
            <a:r>
              <a:rPr sz="3900" spc="-110" dirty="0">
                <a:latin typeface="Arial MT"/>
                <a:cs typeface="Arial MT"/>
              </a:rPr>
              <a:t>utilising</a:t>
            </a:r>
            <a:r>
              <a:rPr sz="3900" spc="-160" dirty="0">
                <a:latin typeface="Arial MT"/>
                <a:cs typeface="Arial MT"/>
              </a:rPr>
              <a:t> </a:t>
            </a:r>
            <a:r>
              <a:rPr sz="3900" spc="-125" dirty="0">
                <a:latin typeface="Arial MT"/>
                <a:cs typeface="Arial MT"/>
              </a:rPr>
              <a:t>the</a:t>
            </a:r>
            <a:r>
              <a:rPr sz="3900" spc="-150" dirty="0">
                <a:latin typeface="Arial MT"/>
                <a:cs typeface="Arial MT"/>
              </a:rPr>
              <a:t> </a:t>
            </a:r>
            <a:r>
              <a:rPr sz="3900" spc="-155" dirty="0">
                <a:latin typeface="Arial MT"/>
                <a:cs typeface="Arial MT"/>
              </a:rPr>
              <a:t>Jaccard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145" dirty="0">
                <a:latin typeface="Arial MT"/>
                <a:cs typeface="Arial MT"/>
              </a:rPr>
              <a:t>score</a:t>
            </a:r>
            <a:r>
              <a:rPr sz="3900" spc="-125" dirty="0">
                <a:latin typeface="Arial MT"/>
                <a:cs typeface="Arial MT"/>
              </a:rPr>
              <a:t> </a:t>
            </a:r>
            <a:r>
              <a:rPr sz="3900" spc="-170" dirty="0">
                <a:latin typeface="Arial MT"/>
                <a:cs typeface="Arial MT"/>
              </a:rPr>
              <a:t>and</a:t>
            </a:r>
            <a:r>
              <a:rPr sz="3900" spc="-100" dirty="0">
                <a:latin typeface="Arial MT"/>
                <a:cs typeface="Arial MT"/>
              </a:rPr>
              <a:t> </a:t>
            </a:r>
            <a:r>
              <a:rPr sz="3900" spc="-229" dirty="0">
                <a:latin typeface="Arial MT"/>
                <a:cs typeface="Arial MT"/>
              </a:rPr>
              <a:t>BERT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35" dirty="0">
                <a:latin typeface="Arial MT"/>
                <a:cs typeface="Arial MT"/>
              </a:rPr>
              <a:t>score,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204" dirty="0">
                <a:latin typeface="Arial MT"/>
                <a:cs typeface="Arial MT"/>
              </a:rPr>
              <a:t>we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70" dirty="0">
                <a:latin typeface="Arial MT"/>
                <a:cs typeface="Arial MT"/>
              </a:rPr>
              <a:t>were</a:t>
            </a:r>
            <a:r>
              <a:rPr sz="3900" spc="-100" dirty="0">
                <a:latin typeface="Arial MT"/>
                <a:cs typeface="Arial MT"/>
              </a:rPr>
              <a:t> </a:t>
            </a:r>
            <a:r>
              <a:rPr sz="3900" spc="-135" dirty="0">
                <a:latin typeface="Arial MT"/>
                <a:cs typeface="Arial MT"/>
              </a:rPr>
              <a:t>able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80" dirty="0">
                <a:latin typeface="Arial MT"/>
                <a:cs typeface="Arial MT"/>
              </a:rPr>
              <a:t>to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20" dirty="0">
                <a:latin typeface="Arial MT"/>
                <a:cs typeface="Arial MT"/>
              </a:rPr>
              <a:t>identify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130" dirty="0">
                <a:latin typeface="Arial MT"/>
                <a:cs typeface="Arial MT"/>
              </a:rPr>
              <a:t>tweets </a:t>
            </a:r>
            <a:r>
              <a:rPr sz="3900" spc="-120" dirty="0">
                <a:latin typeface="Arial MT"/>
                <a:cs typeface="Arial MT"/>
              </a:rPr>
              <a:t>that</a:t>
            </a:r>
            <a:r>
              <a:rPr sz="3900" spc="-145" dirty="0">
                <a:latin typeface="Arial MT"/>
                <a:cs typeface="Arial MT"/>
              </a:rPr>
              <a:t> </a:t>
            </a:r>
            <a:r>
              <a:rPr sz="3900" spc="-150" dirty="0">
                <a:latin typeface="Arial MT"/>
                <a:cs typeface="Arial MT"/>
              </a:rPr>
              <a:t>share</a:t>
            </a:r>
            <a:r>
              <a:rPr sz="3900" spc="-1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</a:t>
            </a:r>
            <a:r>
              <a:rPr sz="3900" spc="-125" dirty="0">
                <a:latin typeface="Arial MT"/>
                <a:cs typeface="Arial MT"/>
              </a:rPr>
              <a:t> similar </a:t>
            </a:r>
            <a:r>
              <a:rPr sz="3900" spc="-114" dirty="0">
                <a:latin typeface="Arial MT"/>
                <a:cs typeface="Arial MT"/>
              </a:rPr>
              <a:t>style</a:t>
            </a:r>
            <a:r>
              <a:rPr sz="3900" spc="-125" dirty="0">
                <a:latin typeface="Arial MT"/>
                <a:cs typeface="Arial MT"/>
              </a:rPr>
              <a:t> </a:t>
            </a:r>
            <a:r>
              <a:rPr sz="3900" spc="-80" dirty="0">
                <a:latin typeface="Arial MT"/>
                <a:cs typeface="Arial MT"/>
              </a:rPr>
              <a:t>to</a:t>
            </a:r>
            <a:r>
              <a:rPr sz="3900" spc="-130" dirty="0">
                <a:latin typeface="Arial MT"/>
                <a:cs typeface="Arial MT"/>
              </a:rPr>
              <a:t> </a:t>
            </a:r>
            <a:r>
              <a:rPr sz="3900" spc="-185" dirty="0">
                <a:latin typeface="Arial MT"/>
                <a:cs typeface="Arial MT"/>
              </a:rPr>
              <a:t>human-</a:t>
            </a:r>
            <a:r>
              <a:rPr sz="3900" spc="-160" dirty="0">
                <a:latin typeface="Arial MT"/>
                <a:cs typeface="Arial MT"/>
              </a:rPr>
              <a:t>generated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14" dirty="0">
                <a:latin typeface="Arial MT"/>
                <a:cs typeface="Arial MT"/>
              </a:rPr>
              <a:t>text</a:t>
            </a:r>
            <a:r>
              <a:rPr sz="3900" spc="-125" dirty="0">
                <a:latin typeface="Arial MT"/>
                <a:cs typeface="Arial MT"/>
              </a:rPr>
              <a:t> </a:t>
            </a:r>
            <a:r>
              <a:rPr sz="3900" spc="-140" dirty="0">
                <a:latin typeface="Arial MT"/>
                <a:cs typeface="Arial MT"/>
              </a:rPr>
              <a:t>while</a:t>
            </a:r>
            <a:r>
              <a:rPr sz="3900" spc="-125" dirty="0">
                <a:latin typeface="Arial MT"/>
                <a:cs typeface="Arial MT"/>
              </a:rPr>
              <a:t> </a:t>
            </a:r>
            <a:r>
              <a:rPr sz="3900" spc="-140" dirty="0">
                <a:latin typeface="Arial MT"/>
                <a:cs typeface="Arial MT"/>
              </a:rPr>
              <a:t>incorporating</a:t>
            </a:r>
            <a:r>
              <a:rPr sz="3900" spc="-125" dirty="0">
                <a:latin typeface="Arial MT"/>
                <a:cs typeface="Arial MT"/>
              </a:rPr>
              <a:t> </a:t>
            </a:r>
            <a:r>
              <a:rPr sz="3900" spc="-50" dirty="0">
                <a:latin typeface="Arial MT"/>
                <a:cs typeface="Arial MT"/>
              </a:rPr>
              <a:t>a </a:t>
            </a:r>
            <a:r>
              <a:rPr sz="3900" spc="-130" dirty="0">
                <a:latin typeface="Arial MT"/>
                <a:cs typeface="Arial MT"/>
              </a:rPr>
              <a:t>sufficient</a:t>
            </a:r>
            <a:r>
              <a:rPr sz="3900" spc="-135" dirty="0">
                <a:latin typeface="Arial MT"/>
                <a:cs typeface="Arial MT"/>
              </a:rPr>
              <a:t> </a:t>
            </a:r>
            <a:r>
              <a:rPr sz="3900" spc="-175" dirty="0">
                <a:latin typeface="Arial MT"/>
                <a:cs typeface="Arial MT"/>
              </a:rPr>
              <a:t>amount</a:t>
            </a:r>
            <a:r>
              <a:rPr sz="3900" spc="-100" dirty="0">
                <a:latin typeface="Arial MT"/>
                <a:cs typeface="Arial MT"/>
              </a:rPr>
              <a:t> </a:t>
            </a:r>
            <a:r>
              <a:rPr sz="3900" spc="-80" dirty="0">
                <a:latin typeface="Arial MT"/>
                <a:cs typeface="Arial MT"/>
              </a:rPr>
              <a:t>of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65" dirty="0">
                <a:latin typeface="Arial MT"/>
                <a:cs typeface="Arial MT"/>
              </a:rPr>
              <a:t>paraphrasing.</a:t>
            </a:r>
            <a:endParaRPr sz="3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3600">
              <a:latin typeface="Arial MT"/>
              <a:cs typeface="Arial MT"/>
            </a:endParaRPr>
          </a:p>
          <a:p>
            <a:pPr marL="12700" marR="1098550">
              <a:lnSpc>
                <a:spcPts val="4130"/>
              </a:lnSpc>
            </a:pPr>
            <a:r>
              <a:rPr sz="3900" spc="-190" dirty="0">
                <a:solidFill>
                  <a:srgbClr val="440099"/>
                </a:solidFill>
                <a:latin typeface="Arial MT"/>
                <a:cs typeface="Arial MT"/>
              </a:rPr>
              <a:t>RQ2</a:t>
            </a:r>
            <a:r>
              <a:rPr sz="3900" spc="-190" dirty="0">
                <a:latin typeface="Arial MT"/>
                <a:cs typeface="Arial MT"/>
              </a:rPr>
              <a:t>:</a:t>
            </a:r>
            <a:r>
              <a:rPr sz="3900" spc="-75" dirty="0">
                <a:latin typeface="Arial MT"/>
                <a:cs typeface="Arial MT"/>
              </a:rPr>
              <a:t> </a:t>
            </a:r>
            <a:r>
              <a:rPr sz="3900" spc="-195" dirty="0">
                <a:latin typeface="Arial MT"/>
                <a:cs typeface="Arial MT"/>
              </a:rPr>
              <a:t>Can</a:t>
            </a:r>
            <a:r>
              <a:rPr sz="3900" spc="-75" dirty="0">
                <a:latin typeface="Arial MT"/>
                <a:cs typeface="Arial MT"/>
              </a:rPr>
              <a:t> </a:t>
            </a:r>
            <a:r>
              <a:rPr sz="3900" spc="-130" dirty="0">
                <a:latin typeface="Arial MT"/>
                <a:cs typeface="Arial MT"/>
              </a:rPr>
              <a:t>existing</a:t>
            </a:r>
            <a:r>
              <a:rPr sz="3900" spc="-70" dirty="0">
                <a:latin typeface="Arial MT"/>
                <a:cs typeface="Arial MT"/>
              </a:rPr>
              <a:t> </a:t>
            </a:r>
            <a:r>
              <a:rPr sz="3900" spc="-145" dirty="0">
                <a:latin typeface="Arial MT"/>
                <a:cs typeface="Arial MT"/>
              </a:rPr>
              <a:t>long-</a:t>
            </a:r>
            <a:r>
              <a:rPr sz="3900" spc="-155" dirty="0">
                <a:latin typeface="Arial MT"/>
                <a:cs typeface="Arial MT"/>
              </a:rPr>
              <a:t>form</a:t>
            </a:r>
            <a:r>
              <a:rPr sz="3900" spc="-75" dirty="0">
                <a:latin typeface="Arial MT"/>
                <a:cs typeface="Arial MT"/>
              </a:rPr>
              <a:t> </a:t>
            </a:r>
            <a:r>
              <a:rPr sz="3900" spc="-240" dirty="0">
                <a:latin typeface="Arial MT"/>
                <a:cs typeface="Arial MT"/>
              </a:rPr>
              <a:t>MGT</a:t>
            </a:r>
            <a:r>
              <a:rPr sz="3900" spc="-70" dirty="0">
                <a:latin typeface="Arial MT"/>
                <a:cs typeface="Arial MT"/>
              </a:rPr>
              <a:t> </a:t>
            </a:r>
            <a:r>
              <a:rPr sz="3900" spc="-140" dirty="0">
                <a:latin typeface="Arial MT"/>
                <a:cs typeface="Arial MT"/>
              </a:rPr>
              <a:t>detectors,</a:t>
            </a:r>
            <a:r>
              <a:rPr sz="3900" spc="-75" dirty="0">
                <a:latin typeface="Arial MT"/>
                <a:cs typeface="Arial MT"/>
              </a:rPr>
              <a:t> </a:t>
            </a:r>
            <a:r>
              <a:rPr sz="3900" spc="-135" dirty="0">
                <a:latin typeface="Arial MT"/>
                <a:cs typeface="Arial MT"/>
              </a:rPr>
              <a:t>effectively</a:t>
            </a:r>
            <a:r>
              <a:rPr sz="3900" spc="-70" dirty="0">
                <a:latin typeface="Arial MT"/>
                <a:cs typeface="Arial MT"/>
              </a:rPr>
              <a:t> </a:t>
            </a:r>
            <a:r>
              <a:rPr sz="3900" spc="-120" dirty="0">
                <a:latin typeface="Arial MT"/>
                <a:cs typeface="Arial MT"/>
              </a:rPr>
              <a:t>identify</a:t>
            </a:r>
            <a:r>
              <a:rPr sz="3900" spc="-75" dirty="0">
                <a:latin typeface="Arial MT"/>
                <a:cs typeface="Arial MT"/>
              </a:rPr>
              <a:t> </a:t>
            </a:r>
            <a:r>
              <a:rPr sz="3900" spc="-150" dirty="0">
                <a:latin typeface="Arial MT"/>
                <a:cs typeface="Arial MT"/>
              </a:rPr>
              <a:t>machine- </a:t>
            </a:r>
            <a:r>
              <a:rPr sz="3900" spc="-50" dirty="0">
                <a:latin typeface="Arial MT"/>
                <a:cs typeface="Arial MT"/>
              </a:rPr>
              <a:t>generated</a:t>
            </a:r>
            <a:endParaRPr sz="3900">
              <a:latin typeface="Arial MT"/>
              <a:cs typeface="Arial MT"/>
            </a:endParaRPr>
          </a:p>
          <a:p>
            <a:pPr marL="12700">
              <a:lnSpc>
                <a:spcPts val="4075"/>
              </a:lnSpc>
            </a:pPr>
            <a:r>
              <a:rPr sz="3900" spc="-150" dirty="0">
                <a:latin typeface="Arial MT"/>
                <a:cs typeface="Arial MT"/>
              </a:rPr>
              <a:t>misinformation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tweets?</a:t>
            </a:r>
            <a:endParaRPr sz="3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600">
              <a:latin typeface="Arial MT"/>
              <a:cs typeface="Arial MT"/>
            </a:endParaRPr>
          </a:p>
          <a:p>
            <a:pPr marL="12700" marR="850900">
              <a:lnSpc>
                <a:spcPts val="4120"/>
              </a:lnSpc>
            </a:pPr>
            <a:r>
              <a:rPr sz="3900" spc="-160" dirty="0">
                <a:latin typeface="Arial MT"/>
                <a:cs typeface="Arial MT"/>
              </a:rPr>
              <a:t>Given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120" dirty="0">
                <a:latin typeface="Arial MT"/>
                <a:cs typeface="Arial MT"/>
              </a:rPr>
              <a:t>that </a:t>
            </a:r>
            <a:r>
              <a:rPr sz="3900" spc="-145" dirty="0">
                <a:latin typeface="Arial MT"/>
                <a:cs typeface="Arial MT"/>
              </a:rPr>
              <a:t>these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65" dirty="0">
                <a:latin typeface="Arial MT"/>
                <a:cs typeface="Arial MT"/>
              </a:rPr>
              <a:t>models</a:t>
            </a:r>
            <a:r>
              <a:rPr sz="3900" spc="-105" dirty="0">
                <a:latin typeface="Arial MT"/>
                <a:cs typeface="Arial MT"/>
              </a:rPr>
              <a:t> </a:t>
            </a:r>
            <a:r>
              <a:rPr sz="3900" spc="-135" dirty="0">
                <a:latin typeface="Arial MT"/>
                <a:cs typeface="Arial MT"/>
              </a:rPr>
              <a:t>are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30" dirty="0">
                <a:latin typeface="Arial MT"/>
                <a:cs typeface="Arial MT"/>
              </a:rPr>
              <a:t>trained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70" dirty="0">
                <a:latin typeface="Arial MT"/>
                <a:cs typeface="Arial MT"/>
              </a:rPr>
              <a:t>on</a:t>
            </a:r>
            <a:r>
              <a:rPr sz="3900" spc="-105" dirty="0">
                <a:latin typeface="Arial MT"/>
                <a:cs typeface="Arial MT"/>
              </a:rPr>
              <a:t> </a:t>
            </a:r>
            <a:r>
              <a:rPr sz="3900" spc="-145" dirty="0">
                <a:latin typeface="Arial MT"/>
                <a:cs typeface="Arial MT"/>
              </a:rPr>
              <a:t>extensive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45" dirty="0">
                <a:latin typeface="Arial MT"/>
                <a:cs typeface="Arial MT"/>
              </a:rPr>
              <a:t>long-</a:t>
            </a:r>
            <a:r>
              <a:rPr sz="3900" spc="-155" dirty="0">
                <a:latin typeface="Arial MT"/>
                <a:cs typeface="Arial MT"/>
              </a:rPr>
              <a:t>form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30" dirty="0">
                <a:latin typeface="Arial MT"/>
                <a:cs typeface="Arial MT"/>
              </a:rPr>
              <a:t>data,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their </a:t>
            </a:r>
            <a:r>
              <a:rPr sz="3900" spc="-165" dirty="0">
                <a:latin typeface="Arial MT"/>
                <a:cs typeface="Arial MT"/>
              </a:rPr>
              <a:t>performance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35" dirty="0">
                <a:latin typeface="Arial MT"/>
                <a:cs typeface="Arial MT"/>
              </a:rPr>
              <a:t>varies </a:t>
            </a:r>
            <a:r>
              <a:rPr sz="3900" spc="-155" dirty="0">
                <a:latin typeface="Arial MT"/>
                <a:cs typeface="Arial MT"/>
              </a:rPr>
              <a:t>from</a:t>
            </a:r>
            <a:r>
              <a:rPr sz="3900" spc="-120" dirty="0">
                <a:latin typeface="Arial MT"/>
                <a:cs typeface="Arial MT"/>
              </a:rPr>
              <a:t> </a:t>
            </a:r>
            <a:r>
              <a:rPr sz="3900" spc="-155" dirty="0">
                <a:latin typeface="Arial MT"/>
                <a:cs typeface="Arial MT"/>
              </a:rPr>
              <a:t>decent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80" dirty="0">
                <a:latin typeface="Arial MT"/>
                <a:cs typeface="Arial MT"/>
              </a:rPr>
              <a:t>to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190" dirty="0">
                <a:latin typeface="Arial MT"/>
                <a:cs typeface="Arial MT"/>
              </a:rPr>
              <a:t>poor,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30" dirty="0">
                <a:latin typeface="Arial MT"/>
                <a:cs typeface="Arial MT"/>
              </a:rPr>
              <a:t>with</a:t>
            </a:r>
            <a:r>
              <a:rPr sz="3900" spc="-10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245" dirty="0">
                <a:latin typeface="Arial MT"/>
                <a:cs typeface="Arial MT"/>
              </a:rPr>
              <a:t>Youden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145" dirty="0">
                <a:latin typeface="Arial MT"/>
                <a:cs typeface="Arial MT"/>
              </a:rPr>
              <a:t>score</a:t>
            </a:r>
            <a:r>
              <a:rPr sz="3900" spc="-110" dirty="0">
                <a:latin typeface="Arial MT"/>
                <a:cs typeface="Arial MT"/>
              </a:rPr>
              <a:t> </a:t>
            </a:r>
            <a:r>
              <a:rPr sz="3900" spc="-145" dirty="0">
                <a:latin typeface="Arial MT"/>
                <a:cs typeface="Arial MT"/>
              </a:rPr>
              <a:t>ranging</a:t>
            </a:r>
            <a:r>
              <a:rPr sz="3900" spc="-105" dirty="0">
                <a:latin typeface="Arial MT"/>
                <a:cs typeface="Arial MT"/>
              </a:rPr>
              <a:t> </a:t>
            </a:r>
            <a:r>
              <a:rPr sz="3900" spc="-130" dirty="0">
                <a:latin typeface="Arial MT"/>
                <a:cs typeface="Arial MT"/>
              </a:rPr>
              <a:t>from </a:t>
            </a:r>
            <a:r>
              <a:rPr sz="3900" spc="-155" dirty="0">
                <a:latin typeface="Arial MT"/>
                <a:cs typeface="Arial MT"/>
              </a:rPr>
              <a:t>approximately</a:t>
            </a:r>
            <a:r>
              <a:rPr sz="3900" spc="-95" dirty="0">
                <a:latin typeface="Arial MT"/>
                <a:cs typeface="Arial MT"/>
              </a:rPr>
              <a:t> </a:t>
            </a:r>
            <a:r>
              <a:rPr sz="3900" spc="-215" dirty="0">
                <a:latin typeface="Arial MT"/>
                <a:cs typeface="Arial MT"/>
              </a:rPr>
              <a:t>30%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80" dirty="0">
                <a:latin typeface="Arial MT"/>
                <a:cs typeface="Arial MT"/>
              </a:rPr>
              <a:t>to</a:t>
            </a:r>
            <a:r>
              <a:rPr sz="3900" spc="-90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70%.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fld id="{81D60167-4931-47E6-BA6A-407CBD079E47}" type="slidenum">
              <a:rPr spc="-70" dirty="0"/>
              <a:t>11</a:t>
            </a:fld>
            <a:endParaRPr spc="-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421640">
              <a:lnSpc>
                <a:spcPts val="4130"/>
              </a:lnSpc>
              <a:spcBef>
                <a:spcPts val="695"/>
              </a:spcBef>
            </a:pPr>
            <a:r>
              <a:rPr spc="-190" dirty="0">
                <a:solidFill>
                  <a:srgbClr val="440099"/>
                </a:solidFill>
              </a:rPr>
              <a:t>RQ3</a:t>
            </a:r>
            <a:r>
              <a:rPr spc="-190" dirty="0"/>
              <a:t>:</a:t>
            </a:r>
            <a:r>
              <a:rPr spc="-85" dirty="0"/>
              <a:t> </a:t>
            </a:r>
            <a:r>
              <a:rPr spc="-215" dirty="0"/>
              <a:t>How</a:t>
            </a:r>
            <a:r>
              <a:rPr spc="-85" dirty="0"/>
              <a:t> will</a:t>
            </a:r>
            <a:r>
              <a:rPr spc="-135" dirty="0"/>
              <a:t> finetuning</a:t>
            </a:r>
            <a:r>
              <a:rPr spc="-95" dirty="0"/>
              <a:t> </a:t>
            </a:r>
            <a:r>
              <a:rPr spc="-280" dirty="0"/>
              <a:t>SOTA</a:t>
            </a:r>
            <a:r>
              <a:rPr spc="-85" dirty="0"/>
              <a:t> </a:t>
            </a:r>
            <a:r>
              <a:rPr spc="-195" dirty="0"/>
              <a:t>LLMs</a:t>
            </a:r>
            <a:r>
              <a:rPr spc="-85" dirty="0"/>
              <a:t> </a:t>
            </a:r>
            <a:r>
              <a:rPr spc="-155" dirty="0"/>
              <a:t>perform</a:t>
            </a:r>
            <a:r>
              <a:rPr spc="-95" dirty="0"/>
              <a:t> </a:t>
            </a:r>
            <a:r>
              <a:rPr spc="-60" dirty="0"/>
              <a:t>in</a:t>
            </a:r>
            <a:r>
              <a:rPr spc="-90" dirty="0"/>
              <a:t> </a:t>
            </a:r>
            <a:r>
              <a:rPr spc="-140" dirty="0"/>
              <a:t>detecting</a:t>
            </a:r>
            <a:r>
              <a:rPr spc="-95" dirty="0"/>
              <a:t> </a:t>
            </a:r>
            <a:r>
              <a:rPr spc="-170" dirty="0"/>
              <a:t>machine-</a:t>
            </a:r>
            <a:r>
              <a:rPr spc="-145" dirty="0"/>
              <a:t>generated </a:t>
            </a:r>
            <a:r>
              <a:rPr spc="-85" dirty="0"/>
              <a:t>misinformation?</a:t>
            </a:r>
          </a:p>
          <a:p>
            <a:pPr marL="12700" marR="741680">
              <a:lnSpc>
                <a:spcPts val="4120"/>
              </a:lnSpc>
              <a:spcBef>
                <a:spcPts val="4120"/>
              </a:spcBef>
            </a:pPr>
            <a:r>
              <a:rPr spc="-175" dirty="0"/>
              <a:t>Llama</a:t>
            </a:r>
            <a:r>
              <a:rPr spc="-100" dirty="0"/>
              <a:t> </a:t>
            </a:r>
            <a:r>
              <a:rPr spc="-125" dirty="0"/>
              <a:t>3.2</a:t>
            </a:r>
            <a:r>
              <a:rPr spc="-120" dirty="0"/>
              <a:t> </a:t>
            </a:r>
            <a:r>
              <a:rPr spc="-150" dirty="0"/>
              <a:t>3B,</a:t>
            </a:r>
            <a:r>
              <a:rPr spc="-105" dirty="0"/>
              <a:t> </a:t>
            </a:r>
            <a:r>
              <a:rPr spc="-195" dirty="0"/>
              <a:t>when</a:t>
            </a:r>
            <a:r>
              <a:rPr spc="-85" dirty="0"/>
              <a:t> </a:t>
            </a:r>
            <a:r>
              <a:rPr spc="-130" dirty="0"/>
              <a:t>fine-</a:t>
            </a:r>
            <a:r>
              <a:rPr spc="-150" dirty="0"/>
              <a:t>tuned</a:t>
            </a:r>
            <a:r>
              <a:rPr spc="-100" dirty="0"/>
              <a:t> </a:t>
            </a:r>
            <a:r>
              <a:rPr spc="-170" dirty="0"/>
              <a:t>on</a:t>
            </a:r>
            <a:r>
              <a:rPr spc="-100" dirty="0"/>
              <a:t> </a:t>
            </a:r>
            <a:r>
              <a:rPr spc="-150" dirty="0"/>
              <a:t>tweet</a:t>
            </a:r>
            <a:r>
              <a:rPr spc="-105" dirty="0"/>
              <a:t> </a:t>
            </a:r>
            <a:r>
              <a:rPr spc="-130" dirty="0"/>
              <a:t>data,</a:t>
            </a:r>
            <a:r>
              <a:rPr spc="-100" dirty="0"/>
              <a:t> </a:t>
            </a:r>
            <a:r>
              <a:rPr spc="-155" dirty="0"/>
              <a:t>outperforms</a:t>
            </a:r>
            <a:r>
              <a:rPr spc="-100" dirty="0"/>
              <a:t> </a:t>
            </a:r>
            <a:r>
              <a:rPr spc="-65" dirty="0"/>
              <a:t>all</a:t>
            </a:r>
            <a:r>
              <a:rPr spc="-105" dirty="0"/>
              <a:t> </a:t>
            </a:r>
            <a:r>
              <a:rPr spc="-135" dirty="0"/>
              <a:t>other</a:t>
            </a:r>
            <a:r>
              <a:rPr spc="-100" dirty="0"/>
              <a:t> </a:t>
            </a:r>
            <a:r>
              <a:rPr spc="-165" dirty="0"/>
              <a:t>models</a:t>
            </a:r>
            <a:r>
              <a:rPr spc="-100" dirty="0"/>
              <a:t> </a:t>
            </a:r>
            <a:r>
              <a:rPr spc="-280" dirty="0"/>
              <a:t>it </a:t>
            </a:r>
            <a:r>
              <a:rPr spc="-185" dirty="0"/>
              <a:t>was</a:t>
            </a:r>
            <a:r>
              <a:rPr spc="-90" dirty="0"/>
              <a:t> </a:t>
            </a:r>
            <a:r>
              <a:rPr spc="-135" dirty="0"/>
              <a:t>tested </a:t>
            </a:r>
            <a:r>
              <a:rPr spc="-140" dirty="0"/>
              <a:t>against</a:t>
            </a:r>
            <a:r>
              <a:rPr spc="-110" dirty="0"/>
              <a:t> </a:t>
            </a:r>
            <a:r>
              <a:rPr spc="-150" dirty="0"/>
              <a:t>across</a:t>
            </a:r>
            <a:r>
              <a:rPr spc="-110" dirty="0"/>
              <a:t> </a:t>
            </a:r>
            <a:r>
              <a:rPr spc="-130" dirty="0"/>
              <a:t>multiple</a:t>
            </a:r>
            <a:r>
              <a:rPr spc="-110" dirty="0"/>
              <a:t> </a:t>
            </a:r>
            <a:r>
              <a:rPr spc="-10" dirty="0"/>
              <a:t>domains.</a:t>
            </a: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3600"/>
          </a:p>
          <a:p>
            <a:pPr marL="12700">
              <a:lnSpc>
                <a:spcPct val="100000"/>
              </a:lnSpc>
            </a:pPr>
            <a:r>
              <a:rPr spc="-190" dirty="0">
                <a:solidFill>
                  <a:srgbClr val="440099"/>
                </a:solidFill>
              </a:rPr>
              <a:t>RQ4</a:t>
            </a:r>
            <a:r>
              <a:rPr spc="-190" dirty="0"/>
              <a:t>:</a:t>
            </a:r>
            <a:r>
              <a:rPr spc="-85" dirty="0"/>
              <a:t> </a:t>
            </a:r>
            <a:r>
              <a:rPr spc="-185" dirty="0"/>
              <a:t>What</a:t>
            </a:r>
            <a:r>
              <a:rPr spc="-90" dirty="0"/>
              <a:t> </a:t>
            </a:r>
            <a:r>
              <a:rPr spc="-135" dirty="0"/>
              <a:t>are </a:t>
            </a:r>
            <a:r>
              <a:rPr spc="-125" dirty="0"/>
              <a:t>the</a:t>
            </a:r>
            <a:r>
              <a:rPr spc="-130" dirty="0"/>
              <a:t> </a:t>
            </a:r>
            <a:r>
              <a:rPr spc="-170" dirty="0"/>
              <a:t>main</a:t>
            </a:r>
            <a:r>
              <a:rPr spc="-105" dirty="0"/>
              <a:t> </a:t>
            </a:r>
            <a:r>
              <a:rPr spc="-114" dirty="0"/>
              <a:t>failure</a:t>
            </a:r>
            <a:r>
              <a:rPr spc="-105" dirty="0"/>
              <a:t> </a:t>
            </a:r>
            <a:r>
              <a:rPr spc="-140" dirty="0"/>
              <a:t>patterns</a:t>
            </a:r>
            <a:r>
              <a:rPr spc="-110" dirty="0"/>
              <a:t> </a:t>
            </a:r>
            <a:r>
              <a:rPr spc="-160" dirty="0"/>
              <a:t>observed</a:t>
            </a:r>
            <a:r>
              <a:rPr spc="-110" dirty="0"/>
              <a:t> </a:t>
            </a:r>
            <a:r>
              <a:rPr spc="-95" dirty="0"/>
              <a:t>for</a:t>
            </a:r>
            <a:r>
              <a:rPr spc="-105" dirty="0"/>
              <a:t> </a:t>
            </a:r>
            <a:r>
              <a:rPr spc="-20" dirty="0"/>
              <a:t>detection?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00"/>
          </a:p>
          <a:p>
            <a:pPr marL="12700" marR="5080">
              <a:lnSpc>
                <a:spcPts val="4130"/>
              </a:lnSpc>
            </a:pPr>
            <a:r>
              <a:rPr spc="-145" dirty="0"/>
              <a:t>Factors</a:t>
            </a:r>
            <a:r>
              <a:rPr spc="-120" dirty="0"/>
              <a:t> </a:t>
            </a:r>
            <a:r>
              <a:rPr spc="-135" dirty="0"/>
              <a:t>contributing</a:t>
            </a:r>
            <a:r>
              <a:rPr spc="-105" dirty="0"/>
              <a:t> </a:t>
            </a:r>
            <a:r>
              <a:rPr spc="-80" dirty="0"/>
              <a:t>to</a:t>
            </a:r>
            <a:r>
              <a:rPr spc="-105" dirty="0"/>
              <a:t> </a:t>
            </a:r>
            <a:r>
              <a:rPr spc="-125" dirty="0"/>
              <a:t>the</a:t>
            </a:r>
            <a:r>
              <a:rPr spc="-105" dirty="0"/>
              <a:t> </a:t>
            </a:r>
            <a:r>
              <a:rPr spc="-145" dirty="0"/>
              <a:t>best-</a:t>
            </a:r>
            <a:r>
              <a:rPr spc="-150" dirty="0"/>
              <a:t>performing</a:t>
            </a:r>
            <a:r>
              <a:rPr spc="-105" dirty="0"/>
              <a:t> </a:t>
            </a:r>
            <a:r>
              <a:rPr spc="-150" dirty="0"/>
              <a:t>model's</a:t>
            </a:r>
            <a:r>
              <a:rPr spc="-105" dirty="0"/>
              <a:t> </a:t>
            </a:r>
            <a:r>
              <a:rPr spc="-125" dirty="0"/>
              <a:t>failures</a:t>
            </a:r>
            <a:r>
              <a:rPr spc="-105" dirty="0"/>
              <a:t> </a:t>
            </a:r>
            <a:r>
              <a:rPr spc="-140" dirty="0"/>
              <a:t>include</a:t>
            </a:r>
            <a:r>
              <a:rPr spc="-105" dirty="0"/>
              <a:t> </a:t>
            </a:r>
            <a:r>
              <a:rPr spc="-145" dirty="0"/>
              <a:t>small</a:t>
            </a:r>
            <a:r>
              <a:rPr spc="-105" dirty="0"/>
              <a:t> </a:t>
            </a:r>
            <a:r>
              <a:rPr spc="-20" dirty="0"/>
              <a:t>token </a:t>
            </a:r>
            <a:r>
              <a:rPr spc="-114" dirty="0"/>
              <a:t>size,</a:t>
            </a:r>
            <a:r>
              <a:rPr spc="-95" dirty="0"/>
              <a:t> </a:t>
            </a:r>
            <a:r>
              <a:rPr spc="-155" dirty="0"/>
              <a:t>excessive</a:t>
            </a:r>
            <a:r>
              <a:rPr spc="-90" dirty="0"/>
              <a:t> </a:t>
            </a:r>
            <a:r>
              <a:rPr spc="-160" dirty="0"/>
              <a:t>hashtags</a:t>
            </a:r>
            <a:r>
              <a:rPr spc="-90" dirty="0"/>
              <a:t> </a:t>
            </a:r>
            <a:r>
              <a:rPr spc="-170" dirty="0"/>
              <a:t>and</a:t>
            </a:r>
            <a:r>
              <a:rPr spc="-90" dirty="0"/>
              <a:t> </a:t>
            </a:r>
            <a:r>
              <a:rPr spc="-155" dirty="0"/>
              <a:t>emoticons,</a:t>
            </a:r>
            <a:r>
              <a:rPr spc="-95" dirty="0"/>
              <a:t> </a:t>
            </a:r>
            <a:r>
              <a:rPr spc="-145" dirty="0"/>
              <a:t>frequent</a:t>
            </a:r>
            <a:r>
              <a:rPr spc="-90" dirty="0"/>
              <a:t> </a:t>
            </a:r>
            <a:r>
              <a:rPr spc="-130" dirty="0"/>
              <a:t>jargon,</a:t>
            </a:r>
            <a:r>
              <a:rPr spc="-90" dirty="0"/>
              <a:t> </a:t>
            </a:r>
            <a:r>
              <a:rPr spc="-170" dirty="0"/>
              <a:t>and</a:t>
            </a:r>
            <a:r>
              <a:rPr spc="-90" dirty="0"/>
              <a:t> </a:t>
            </a:r>
            <a:r>
              <a:rPr spc="-150" dirty="0"/>
              <a:t>emotional</a:t>
            </a:r>
            <a:r>
              <a:rPr spc="-95" dirty="0"/>
              <a:t> </a:t>
            </a:r>
            <a:r>
              <a:rPr spc="-114" dirty="0"/>
              <a:t>polarity </a:t>
            </a:r>
            <a:r>
              <a:rPr spc="-60" dirty="0"/>
              <a:t>in</a:t>
            </a:r>
            <a:r>
              <a:rPr spc="-200" dirty="0"/>
              <a:t> </a:t>
            </a:r>
            <a:r>
              <a:rPr spc="-130" dirty="0"/>
              <a:t>short</a:t>
            </a:r>
            <a:r>
              <a:rPr spc="-140" dirty="0"/>
              <a:t> </a:t>
            </a:r>
            <a:r>
              <a:rPr spc="-55" dirty="0"/>
              <a:t>sentences.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fld id="{81D60167-4931-47E6-BA6A-407CBD079E47}" type="slidenum">
              <a:rPr spc="-70" dirty="0"/>
              <a:t>12</a:t>
            </a:fld>
            <a:endParaRPr spc="-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2233" y="4193844"/>
            <a:ext cx="6927850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400" dirty="0"/>
              <a:t>Thank</a:t>
            </a:r>
            <a:r>
              <a:rPr sz="10400" spc="95" dirty="0"/>
              <a:t> </a:t>
            </a:r>
            <a:r>
              <a:rPr sz="10400" spc="-20" dirty="0"/>
              <a:t>you!</a:t>
            </a:r>
            <a:endParaRPr sz="10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fld id="{81D60167-4931-47E6-BA6A-407CBD079E47}" type="slidenum">
              <a:rPr spc="-70" dirty="0"/>
              <a:t>13</a:t>
            </a:fld>
            <a:endParaRPr spc="-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520</Words>
  <Application>Microsoft Office PowerPoint</Application>
  <PresentationFormat>Custom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Cambria</vt:lpstr>
      <vt:lpstr>Tahoma</vt:lpstr>
      <vt:lpstr>Verdana</vt:lpstr>
      <vt:lpstr>Office Theme</vt:lpstr>
      <vt:lpstr>Detecting Machine Generated Misinformation in Social Media</vt:lpstr>
      <vt:lpstr>Contents</vt:lpstr>
      <vt:lpstr>PowerPoint Presentation</vt:lpstr>
      <vt:lpstr>Problem Statement &amp; Research Questions</vt:lpstr>
      <vt:lpstr>Methodology</vt:lpstr>
      <vt:lpstr>Results : Generated Data Analysis</vt:lpstr>
      <vt:lpstr>Results: MGT Detection Analysis</vt:lpstr>
      <vt:lpstr>Results: MGT Detection Analysis</vt:lpstr>
      <vt:lpstr>Error Analysis</vt:lpstr>
      <vt:lpstr>Error Analysis</vt:lpstr>
      <vt:lpstr>Conclusion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Manthan Gharat</cp:lastModifiedBy>
  <cp:revision>2</cp:revision>
  <dcterms:created xsi:type="dcterms:W3CDTF">2025-12-12T15:00:08Z</dcterms:created>
  <dcterms:modified xsi:type="dcterms:W3CDTF">2025-12-12T16:06:11Z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2025-12-12T00:00:00Z</vt:filetime>
  </property>
  <property fmtid="{D5CDD505-2E9C-101B-9397-08002B2CF9AE}" pid="3" name="LastSaved">
    <vt:filetime>2025-12-12T00:00:00Z</vt:filetime>
  </property>
  <property fmtid="{D5CDD505-2E9C-101B-9397-08002B2CF9AE}" pid="4" name="Producer">
    <vt:lpwstr>iLovePDF</vt:lpwstr>
  </property>
</Properties>
</file>